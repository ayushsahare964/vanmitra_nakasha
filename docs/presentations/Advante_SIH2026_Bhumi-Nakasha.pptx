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ih.gov.in/" TargetMode="External"/><Relationship Id="rId2" Type="http://schemas.openxmlformats.org/officeDocument/2006/relationships/hyperlink" Target="https://naksha.gov.in/" TargetMode="External"/><Relationship Id="rId3" Type="http://schemas.openxmlformats.org/officeDocument/2006/relationships/hyperlink" Target="https://svamitva.nic.in/" TargetMode="External"/><Relationship Id="rId4" Type="http://schemas.openxmlformats.org/officeDocument/2006/relationships/hyperlink" Target="https://bhulekh.mahabhumi.gov.in/" TargetMode="External"/><Relationship Id="rId5" Type="http://schemas.openxmlformats.org/officeDocument/2006/relationships/hyperlink" Target="https://segment-anything.com/" TargetMode="External"/><Relationship Id="rId6" Type="http://schemas.openxmlformats.org/officeDocument/2006/relationships/hyperlink" Target="https://postgis.net/documentation/" TargetMode="External"/><Relationship Id="rId7" Type="http://schemas.openxmlformats.org/officeDocument/2006/relationships/hyperlink" Target="https://pytorch-geometric.readthedocs.io/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206240"/>
            <a:ext cx="3685032" cy="2651760"/>
          </a:xfrm>
          <a:prstGeom prst="rect">
            <a:avLst/>
          </a:prstGeom>
          <a:solidFill>
            <a:srgbClr val="0F2745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4343400"/>
            <a:ext cx="1600200" cy="1143000"/>
          </a:xfrm>
          <a:prstGeom prst="rect">
            <a:avLst/>
          </a:prstGeom>
          <a:solidFill>
            <a:srgbClr val="1C7293"/>
          </a:solidFill>
          <a:ln w="38100">
            <a:solidFill>
              <a:srgbClr val="0F27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51008" y="4343400"/>
            <a:ext cx="1691640" cy="1143000"/>
          </a:xfrm>
          <a:prstGeom prst="rect">
            <a:avLst/>
          </a:prstGeom>
          <a:solidFill>
            <a:srgbClr val="2E8B57"/>
          </a:solidFill>
          <a:ln w="38100">
            <a:solidFill>
              <a:srgbClr val="0F27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5596128"/>
            <a:ext cx="2377440" cy="1078992"/>
          </a:xfrm>
          <a:prstGeom prst="rect">
            <a:avLst/>
          </a:prstGeom>
          <a:solidFill>
            <a:srgbClr val="E8720C"/>
          </a:solidFill>
          <a:ln w="38100">
            <a:solidFill>
              <a:srgbClr val="0F27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28248" y="5596128"/>
            <a:ext cx="914400" cy="1078992"/>
          </a:xfrm>
          <a:prstGeom prst="rect">
            <a:avLst/>
          </a:prstGeom>
          <a:solidFill>
            <a:srgbClr val="3E6D95"/>
          </a:solidFill>
          <a:ln w="38100">
            <a:solidFill>
              <a:srgbClr val="0F2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5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Bhumi-Nakasha
</a:t>
            </a:r>
            <a:pPr indent="0" marL="0">
              <a:lnSpc>
                <a:spcPts val="4600"/>
              </a:lnSpc>
              <a:buNone/>
            </a:pPr>
            <a:r>
              <a:rPr lang="en-US" sz="26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Survey Number to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2600" b="1" dirty="0">
                <a:solidFill>
                  <a:srgbClr val="E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Land Parcel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AI/GeoAI-driven automation for integrating and harmonizing multi-source geospatial data into legally-ready, intelligent land parcels.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279392"/>
            <a:ext cx="2331720" cy="27432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279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0" y="42793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4594860"/>
            <a:ext cx="2331720" cy="438912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948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0" y="459486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Integration and Intelligent Harmonization of Multi-source Geospatial Data for Urban Land Record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2331720" cy="27432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074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0" y="5074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5390388"/>
            <a:ext cx="2331720" cy="27432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3903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53903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5705856"/>
            <a:ext cx="2331720" cy="27432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7058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0" y="57058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74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400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PARCELS. ACCURATE RECORDS. EMPOWERING INDIA.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E872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Bhumi-Nakasha: From Survey Number to Intelligent Land Parcel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68712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5806440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23444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5623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AI/GeoAI fuses cadastral maps with textual land records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extracts survey boundaries from scanned sheets and drone imagery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Area-constrained ML splits Survey No. 255 into 255/1, 255/2, 255/3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5806440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7889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5623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spatial matching, topology correction and conflict resolution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drone, ORI, DSM/DTM, GNSS, revenue, municipal and utility data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GIS-technician bottlenecks in cadastral finalization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5806440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434340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709160"/>
            <a:ext cx="5623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fractional survey-number inference using ML + GNN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confidence scoring — no automatic legal boundary decisions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GIS assistant for English / Hindi queries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1234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SUB-DIVISION, VISUALIZED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600200"/>
            <a:ext cx="2377440" cy="3474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947672"/>
            <a:ext cx="2377440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2286000"/>
            <a:ext cx="1554480" cy="1737360"/>
          </a:xfrm>
          <a:prstGeom prst="ellipse">
            <a:avLst/>
          </a:prstGeom>
          <a:solidFill>
            <a:srgbClr val="AEB9C8"/>
          </a:solidFill>
          <a:ln w="254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NO. 255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(UNDIVIDED)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98280" y="2889504"/>
            <a:ext cx="640080" cy="402336"/>
          </a:xfrm>
          <a:prstGeom prst="rightArrow">
            <a:avLst/>
          </a:prstGeom>
          <a:solidFill>
            <a:srgbClr val="E8720C"/>
          </a:solidFill>
          <a:ln/>
        </p:spPr>
      </p:sp>
      <p:sp>
        <p:nvSpPr>
          <p:cNvPr id="25" name="Shape 23"/>
          <p:cNvSpPr/>
          <p:nvPr/>
        </p:nvSpPr>
        <p:spPr>
          <a:xfrm>
            <a:off x="9875520" y="1600200"/>
            <a:ext cx="2377440" cy="347472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PARCELQ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75520" y="1947672"/>
            <a:ext cx="2377440" cy="228600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2112264"/>
            <a:ext cx="987552" cy="100584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0816" y="2112264"/>
            <a:ext cx="987552" cy="1005840"/>
          </a:xfrm>
          <a:prstGeom prst="rect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191256"/>
            <a:ext cx="2048256" cy="1170432"/>
          </a:xfrm>
          <a:prstGeom prst="rect">
            <a:avLst/>
          </a:prstGeom>
          <a:solidFill>
            <a:srgbClr val="E872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40112" y="24780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255/1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00816" y="24780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255/2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40112" y="36393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255/3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398264"/>
            <a:ext cx="5074920" cy="1051560"/>
          </a:xfrm>
          <a:prstGeom prst="rect">
            <a:avLst/>
          </a:prstGeom>
          <a:solidFill>
            <a:srgbClr val="FBF1E7"/>
          </a:solidFill>
          <a:ln w="9525">
            <a:solidFill>
              <a:srgbClr val="E872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48970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survey numbers (255/1, 255/2, 255/3) are generated automatically from area-constrained ML partitioning, refined by a graph neural network and reviewed by an officer before publication.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6473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PARCELS. ACCURATE RECORDS. EMPOWERING INDIA.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79992" y="6473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ADVANTE  |  SIH 2026  |  2/6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E872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68712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and GeoAI pipeline that harmonizes multi-source geospatial and textual data into intelligent, legally-defensible land parcels.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54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1554480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55448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cadastral PDF/image + drone ORI + GNSS 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" y="1938528"/>
            <a:ext cx="164592" cy="5943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997964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9979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1997964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199796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NLP text extraction (IndicBERT) from land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" y="2382012"/>
            <a:ext cx="164592" cy="5943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441448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41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5840" y="2441448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44144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boundary segmentation (SAM + U-Net)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" y="2825496"/>
            <a:ext cx="164592" cy="5943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884932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8849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2884932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288493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Area-constrained sub-division partitioning, GNN-refined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" y="3268980"/>
            <a:ext cx="164592" cy="5943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328416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328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5840" y="3328416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332841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&amp; coordinate transformation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" y="3712464"/>
            <a:ext cx="164592" cy="5943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771900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7719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05840" y="3771900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377190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matching with 7/12, Khata &amp; municipal records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" y="4155948"/>
            <a:ext cx="164592" cy="5943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215384"/>
            <a:ext cx="45720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2153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05840" y="4215384"/>
            <a:ext cx="5989320" cy="384048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43" name="Text 41"/>
          <p:cNvSpPr/>
          <p:nvPr/>
        </p:nvSpPr>
        <p:spPr>
          <a:xfrm>
            <a:off x="1143000" y="421538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+ confidence scoring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4686300"/>
            <a:ext cx="3127248" cy="438912"/>
          </a:xfrm>
          <a:prstGeom prst="rect">
            <a:avLst/>
          </a:prstGeom>
          <a:solidFill>
            <a:srgbClr val="F4F6F9"/>
          </a:solidFill>
          <a:ln w="15875">
            <a:solidFill>
              <a:srgbClr val="E872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686300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90% confidence → Human Review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67912" y="4686300"/>
            <a:ext cx="3127248" cy="438912"/>
          </a:xfrm>
          <a:prstGeom prst="rect">
            <a:avLst/>
          </a:prstGeom>
          <a:solidFill>
            <a:srgbClr val="F4F6F9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9352" y="4686300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confidence → Auto-publish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66744" y="5125212"/>
            <a:ext cx="164592" cy="128016"/>
          </a:xfrm>
          <a:prstGeom prst="downArrow">
            <a:avLst/>
          </a:prstGeom>
          <a:solidFill>
            <a:srgbClr val="E8720C"/>
          </a:solidFill>
          <a:ln/>
        </p:spPr>
      </p:sp>
      <p:sp>
        <p:nvSpPr>
          <p:cNvPr id="49" name="Shape 47"/>
          <p:cNvSpPr/>
          <p:nvPr/>
        </p:nvSpPr>
        <p:spPr>
          <a:xfrm>
            <a:off x="502920" y="5253228"/>
            <a:ext cx="6492240" cy="42062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5253228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Golden Record  →  Web-GIS + Natural-Language Assistant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9480" y="1691640"/>
            <a:ext cx="4389120" cy="1664208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69480" y="1691640"/>
            <a:ext cx="4389120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3" name="Shape 51"/>
          <p:cNvSpPr/>
          <p:nvPr/>
        </p:nvSpPr>
        <p:spPr>
          <a:xfrm>
            <a:off x="7324344" y="1636776"/>
            <a:ext cx="493776" cy="493776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4" name="Image 0" descr="/home/claude/sih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850" y="1755282"/>
            <a:ext cx="256764" cy="256764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7863840" y="16916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7452360" y="2130552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Segment Anything, U-Net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Geometric (GNN)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Cloud Vision OCR + IndicBERT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for NL assistant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7269480" y="3493008"/>
            <a:ext cx="4389120" cy="1389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69480" y="3493008"/>
            <a:ext cx="438912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6"/>
          <p:cNvSpPr/>
          <p:nvPr/>
        </p:nvSpPr>
        <p:spPr>
          <a:xfrm>
            <a:off x="7324344" y="3438144"/>
            <a:ext cx="493776" cy="49377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0" name="Image 1" descr="/home/claude/sih/icons/satell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50" y="3556650"/>
            <a:ext cx="256764" cy="256764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7863840" y="34930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&amp; SERVICES</a:t>
            </a:r>
            <a:endParaRPr lang="en-US" sz="1150" dirty="0"/>
          </a:p>
        </p:txBody>
      </p:sp>
      <p:sp>
        <p:nvSpPr>
          <p:cNvPr id="62" name="Text 58"/>
          <p:cNvSpPr/>
          <p:nvPr/>
        </p:nvSpPr>
        <p:spPr>
          <a:xfrm>
            <a:off x="7452360" y="3931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GeoPandas, GDAL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GeoServer (OGC WMS/WFS)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7269480" y="5020056"/>
            <a:ext cx="4389120" cy="1389888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7269480" y="5020056"/>
            <a:ext cx="4389120" cy="3840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5" name="Shape 61"/>
          <p:cNvSpPr/>
          <p:nvPr/>
        </p:nvSpPr>
        <p:spPr>
          <a:xfrm>
            <a:off x="7324344" y="4965192"/>
            <a:ext cx="493776" cy="493776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6" name="Image 2" descr="/home/claude/sih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850" y="5083698"/>
            <a:ext cx="256764" cy="256764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7863840" y="502005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INFRA</a:t>
            </a:r>
            <a:endParaRPr lang="en-US" sz="1150" dirty="0"/>
          </a:p>
        </p:txBody>
      </p:sp>
      <p:sp>
        <p:nvSpPr>
          <p:cNvPr id="68" name="Text 63"/>
          <p:cNvSpPr/>
          <p:nvPr/>
        </p:nvSpPr>
        <p:spPr>
          <a:xfrm>
            <a:off x="7452360" y="54589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Mapbox GL / MapLibre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Docker/Kubernetes on AWS/GCP</a:t>
            </a:r>
            <a:endParaRPr lang="en-US" sz="1050" dirty="0"/>
          </a:p>
        </p:txBody>
      </p:sp>
      <p:sp>
        <p:nvSpPr>
          <p:cNvPr id="69" name="Shape 6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0" name="Text 65"/>
          <p:cNvSpPr/>
          <p:nvPr/>
        </p:nvSpPr>
        <p:spPr>
          <a:xfrm>
            <a:off x="365760" y="6473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PARCELS. ACCURATE RECORDS. EMPOWERING INDIA.</a:t>
            </a:r>
            <a:endParaRPr lang="en-US" sz="1000" dirty="0"/>
          </a:p>
        </p:txBody>
      </p:sp>
      <p:sp>
        <p:nvSpPr>
          <p:cNvPr id="71" name="Text 66"/>
          <p:cNvSpPr/>
          <p:nvPr/>
        </p:nvSpPr>
        <p:spPr>
          <a:xfrm>
            <a:off x="9079992" y="6473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ADVANTE  |  SIH 2026  |  3/6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E872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68712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5440680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344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23444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1764792"/>
            <a:ext cx="5440680" cy="9875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7510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0" descr="/home/claude/sih/icons/leg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431" y="2111167"/>
            <a:ext cx="294803" cy="2948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1892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defensibility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1732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outputs need legal certainty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72200" y="1764792"/>
            <a:ext cx="5532120" cy="987552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19" name="Shape 16"/>
          <p:cNvSpPr/>
          <p:nvPr/>
        </p:nvSpPr>
        <p:spPr>
          <a:xfrm>
            <a:off x="6327648" y="1975104"/>
            <a:ext cx="566928" cy="566928"/>
          </a:xfrm>
          <a:prstGeom prst="ellipse">
            <a:avLst/>
          </a:prstGeom>
          <a:solidFill>
            <a:srgbClr val="E8720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1" descr="/home/claude/sih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711" y="2111167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1892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&lt;90% confidence → advisory only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86600" y="2240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officer sign-off required before publication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870448" y="2121408"/>
            <a:ext cx="301752" cy="274320"/>
          </a:xfrm>
          <a:prstGeom prst="rightArrow">
            <a:avLst/>
          </a:prstGeom>
          <a:solidFill>
            <a:srgbClr val="0B1F3A"/>
          </a:solidFill>
          <a:ln/>
        </p:spPr>
      </p:sp>
      <p:sp>
        <p:nvSpPr>
          <p:cNvPr id="24" name="Shape 20"/>
          <p:cNvSpPr/>
          <p:nvPr/>
        </p:nvSpPr>
        <p:spPr>
          <a:xfrm>
            <a:off x="502920" y="2880360"/>
            <a:ext cx="5440680" cy="9875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Shape 21"/>
          <p:cNvSpPr/>
          <p:nvPr/>
        </p:nvSpPr>
        <p:spPr>
          <a:xfrm>
            <a:off x="658368" y="3090672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2" descr="/home/claude/sih/icons/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1" y="3226735"/>
            <a:ext cx="294803" cy="29480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17320" y="3008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Scan-quality variance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417320" y="3355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source document and scan quality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172200" y="2880360"/>
            <a:ext cx="5532120" cy="987552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30" name="Shape 25"/>
          <p:cNvSpPr/>
          <p:nvPr/>
        </p:nvSpPr>
        <p:spPr>
          <a:xfrm>
            <a:off x="6327648" y="3090672"/>
            <a:ext cx="566928" cy="566928"/>
          </a:xfrm>
          <a:prstGeom prst="ellipse">
            <a:avLst/>
          </a:prstGeom>
          <a:solidFill>
            <a:srgbClr val="E8720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1" name="Image 3" descr="/home/claude/sih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711" y="3226735"/>
            <a:ext cx="294803" cy="29480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86600" y="3008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Document-quality classifier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086600" y="33558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routes poor scans for manual review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870448" y="3236976"/>
            <a:ext cx="301752" cy="274320"/>
          </a:xfrm>
          <a:prstGeom prst="rightArrow">
            <a:avLst/>
          </a:prstGeom>
          <a:solidFill>
            <a:srgbClr val="0B1F3A"/>
          </a:solidFill>
          <a:ln/>
        </p:spPr>
      </p:sp>
      <p:sp>
        <p:nvSpPr>
          <p:cNvPr id="35" name="Shape 29"/>
          <p:cNvSpPr/>
          <p:nvPr/>
        </p:nvSpPr>
        <p:spPr>
          <a:xfrm>
            <a:off x="502920" y="3995928"/>
            <a:ext cx="5440680" cy="9875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6" name="Shape 30"/>
          <p:cNvSpPr/>
          <p:nvPr/>
        </p:nvSpPr>
        <p:spPr>
          <a:xfrm>
            <a:off x="658368" y="4206240"/>
            <a:ext cx="566928" cy="566928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7" name="Image 4" descr="/home/claude/sih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31" y="4342303"/>
            <a:ext cx="294803" cy="29480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417320" y="41239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/ CRS mismatch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417320" y="4471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Everest 1830 vs. WGS84 differences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172200" y="3995928"/>
            <a:ext cx="5532120" cy="987552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41" name="Shape 34"/>
          <p:cNvSpPr/>
          <p:nvPr/>
        </p:nvSpPr>
        <p:spPr>
          <a:xfrm>
            <a:off x="6327648" y="4206240"/>
            <a:ext cx="566928" cy="566928"/>
          </a:xfrm>
          <a:prstGeom prst="ellipse">
            <a:avLst/>
          </a:prstGeom>
          <a:solidFill>
            <a:srgbClr val="E8720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2" name="Image 5" descr="/home/claude/sih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711" y="4342303"/>
            <a:ext cx="294803" cy="294803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08660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transformation step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7086600" y="44714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Harmonizes all sources to a common reference frame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5870448" y="4352544"/>
            <a:ext cx="301752" cy="274320"/>
          </a:xfrm>
          <a:prstGeom prst="rightArrow">
            <a:avLst/>
          </a:prstGeom>
          <a:solidFill>
            <a:srgbClr val="0B1F3A"/>
          </a:solidFill>
          <a:ln/>
        </p:spPr>
      </p:sp>
      <p:sp>
        <p:nvSpPr>
          <p:cNvPr id="46" name="Shape 38"/>
          <p:cNvSpPr/>
          <p:nvPr/>
        </p:nvSpPr>
        <p:spPr>
          <a:xfrm>
            <a:off x="502920" y="5111496"/>
            <a:ext cx="5440680" cy="9875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7" name="Shape 39"/>
          <p:cNvSpPr/>
          <p:nvPr/>
        </p:nvSpPr>
        <p:spPr>
          <a:xfrm>
            <a:off x="658368" y="5321808"/>
            <a:ext cx="566928" cy="566928"/>
          </a:xfrm>
          <a:prstGeom prst="ellipse">
            <a:avLst/>
          </a:prstGeom>
          <a:solidFill>
            <a:srgbClr val="E8720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8" name="Image 6" descr="/home/claude/sih/icons/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431" y="5457871"/>
            <a:ext cx="294803" cy="294803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417320" y="5239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ownership data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1417320" y="55869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records require strict protection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6172200" y="5111496"/>
            <a:ext cx="5532120" cy="987552"/>
          </a:xfrm>
          <a:prstGeom prst="rect">
            <a:avLst/>
          </a:prstGeom>
          <a:solidFill>
            <a:srgbClr val="FBF1E7"/>
          </a:solidFill>
          <a:ln/>
        </p:spPr>
      </p:sp>
      <p:sp>
        <p:nvSpPr>
          <p:cNvPr id="52" name="Shape 43"/>
          <p:cNvSpPr/>
          <p:nvPr/>
        </p:nvSpPr>
        <p:spPr>
          <a:xfrm>
            <a:off x="6327648" y="5321808"/>
            <a:ext cx="566928" cy="566928"/>
          </a:xfrm>
          <a:prstGeom prst="ellipse">
            <a:avLst/>
          </a:prstGeom>
          <a:solidFill>
            <a:srgbClr val="E8720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3" name="Image 7" descr="/home/claude/sih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3711" y="5457871"/>
            <a:ext cx="294803" cy="294803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086600" y="5239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+ encryption</a:t>
            </a:r>
            <a:endParaRPr lang="en-US" sz="1300" dirty="0"/>
          </a:p>
        </p:txBody>
      </p:sp>
      <p:sp>
        <p:nvSpPr>
          <p:cNvPr id="55" name="Text 45"/>
          <p:cNvSpPr/>
          <p:nvPr/>
        </p:nvSpPr>
        <p:spPr>
          <a:xfrm>
            <a:off x="7086600" y="558698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per Bhumi Abhilekh data policy</a:t>
            </a:r>
            <a:endParaRPr lang="en-US" sz="1050" dirty="0"/>
          </a:p>
        </p:txBody>
      </p:sp>
      <p:sp>
        <p:nvSpPr>
          <p:cNvPr id="56" name="Shape 46"/>
          <p:cNvSpPr/>
          <p:nvPr/>
        </p:nvSpPr>
        <p:spPr>
          <a:xfrm>
            <a:off x="5870448" y="5468112"/>
            <a:ext cx="301752" cy="274320"/>
          </a:xfrm>
          <a:prstGeom prst="rightArrow">
            <a:avLst/>
          </a:prstGeom>
          <a:solidFill>
            <a:srgbClr val="0B1F3A"/>
          </a:solidFill>
          <a:ln/>
        </p:spPr>
      </p:sp>
      <p:sp>
        <p:nvSpPr>
          <p:cNvPr id="57" name="Shape 4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8" name="Text 48"/>
          <p:cNvSpPr/>
          <p:nvPr/>
        </p:nvSpPr>
        <p:spPr>
          <a:xfrm>
            <a:off x="365760" y="6473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PARCELS. ACCURATE RECORDS. EMPOWERING INDIA.</a:t>
            </a:r>
            <a:endParaRPr lang="en-US" sz="1000" dirty="0"/>
          </a:p>
        </p:txBody>
      </p:sp>
      <p:sp>
        <p:nvSpPr>
          <p:cNvPr id="59" name="Text 49"/>
          <p:cNvSpPr/>
          <p:nvPr/>
        </p:nvSpPr>
        <p:spPr>
          <a:xfrm>
            <a:off x="9079992" y="6473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ADVANTE  |  SIH 2026  |  4/6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E872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That Matters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68712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29260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399032"/>
            <a:ext cx="502920" cy="5029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home/claude/sih/icons/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519733"/>
            <a:ext cx="261518" cy="26151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7512" y="22768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disputes, greater transparency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11880" y="1234440"/>
            <a:ext cx="29260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76472" y="1399032"/>
            <a:ext cx="502920" cy="502920"/>
          </a:xfrm>
          <a:prstGeom prst="ellipse">
            <a:avLst/>
          </a:prstGeom>
          <a:solidFill>
            <a:srgbClr val="E8720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home/claude/sih/icons/econo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73" y="1519733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7647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776472" y="22768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loans, reduced legal costs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2834640"/>
            <a:ext cx="29260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7512" y="2999232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2" descr="/home/claude/sih/icons/gover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119933"/>
            <a:ext cx="261518" cy="26151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" y="36118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67512" y="38770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golden record, interoperability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611880" y="2834640"/>
            <a:ext cx="292608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776472" y="2999232"/>
            <a:ext cx="502920" cy="502920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3" descr="/home/claude/sih/icons/environ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173" y="3119933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76472" y="36118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/ PLANNING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3776472" y="38770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land-use, infrastructure planning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" y="4572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2920" y="48463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disputes — clearer parcel boundaries published online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credit access — quicker loan and title verification for citizens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Inter-department data exchange — shared spatial layer for revenue, municipal &amp; utility bodies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digital land governance — village-level dashboards support planners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58000" y="12344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858000" y="1554480"/>
            <a:ext cx="4800600" cy="4114800"/>
          </a:xfrm>
          <a:prstGeom prst="rect">
            <a:avLst/>
          </a:prstGeom>
          <a:solidFill>
            <a:srgbClr val="0B1F3A"/>
          </a:solidFill>
          <a:ln w="25400">
            <a:solidFill>
              <a:srgbClr val="E8720C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8755380" y="2788920"/>
            <a:ext cx="1005840" cy="1005840"/>
          </a:xfrm>
          <a:prstGeom prst="ellipse">
            <a:avLst/>
          </a:prstGeom>
          <a:solidFill>
            <a:srgbClr val="E8720C"/>
          </a:solidFill>
          <a:ln/>
        </p:spPr>
      </p:sp>
      <p:pic>
        <p:nvPicPr>
          <p:cNvPr id="34" name="Image 4" descr="/home/claude/sih/icons/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692" y="2999232"/>
            <a:ext cx="585216" cy="58521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32320" y="4023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Demo Video Here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223760" y="44348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Insert → Video → This Device, then resize this box to fit. Recommended: 60–90 sec walkthrough of the Bhumi-Nakasha pipeline.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8" name="Text 31"/>
          <p:cNvSpPr/>
          <p:nvPr/>
        </p:nvSpPr>
        <p:spPr>
          <a:xfrm>
            <a:off x="365760" y="6473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PARCELS. ACCURATE RECORDS. EMPOWERING INDIA.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9079992" y="6473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ADVANTE  |  SIH 2026  |  5/6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594360" cy="594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E872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201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References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68712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08760"/>
            <a:ext cx="6035040" cy="603504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8196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scans • Drone ORI • GNSS • 7/12 &amp; Khata • Municipal / Utility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2112264"/>
            <a:ext cx="182880" cy="128016"/>
          </a:xfrm>
          <a:prstGeom prst="downArrow">
            <a:avLst/>
          </a:prstGeom>
          <a:solidFill>
            <a:srgbClr val="5B6B7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240280"/>
            <a:ext cx="6035040" cy="6035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2951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GEOAI PROCESSING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25511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NLP • CV Segmentation • GNN Partitioning • Conflict Resolution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2843784"/>
            <a:ext cx="182880" cy="128016"/>
          </a:xfrm>
          <a:prstGeom prst="downArrow">
            <a:avLst/>
          </a:prstGeom>
          <a:solidFill>
            <a:srgbClr val="5B6B7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971800"/>
            <a:ext cx="6035040" cy="60350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266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GOLDEN RECORD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32826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harmonized, legally-traceable parcel database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575304"/>
            <a:ext cx="182880" cy="128016"/>
          </a:xfrm>
          <a:prstGeom prst="downArrow">
            <a:avLst/>
          </a:prstGeom>
          <a:solidFill>
            <a:srgbClr val="5B6B7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703320"/>
            <a:ext cx="6035040" cy="603504"/>
          </a:xfrm>
          <a:prstGeom prst="rect">
            <a:avLst/>
          </a:prstGeom>
          <a:solidFill>
            <a:srgbClr val="E8720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581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0142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Web-GIS (React + Mapbox) • FastAPI • NL Assistant (EN/HI)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4306824"/>
            <a:ext cx="182880" cy="128016"/>
          </a:xfrm>
          <a:prstGeom prst="downArrow">
            <a:avLst/>
          </a:prstGeom>
          <a:solidFill>
            <a:srgbClr val="5B6B7F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434840"/>
            <a:ext cx="6035040" cy="60350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4897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47457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officers • Citizens • Municipal &amp; utility departments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1508760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6976872" y="1632204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7232904" y="1508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Ministry of Rural Development / DoLR – SIH Problem Statement 26013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03720" y="1993392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976872" y="2116836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5" name="Text 33">
            <a:hlinkClick r:id="rId2" tooltip=""/>
          </p:cNvPr>
          <p:cNvSpPr/>
          <p:nvPr/>
        </p:nvSpPr>
        <p:spPr>
          <a:xfrm>
            <a:off x="7232904" y="19933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NAKSHA Programme (National Geospatial Knowledge-based Land Survey)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03720" y="2478024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7" name="Shape 35"/>
          <p:cNvSpPr/>
          <p:nvPr/>
        </p:nvSpPr>
        <p:spPr>
          <a:xfrm>
            <a:off x="6976872" y="2601468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38" name="Text 36">
            <a:hlinkClick r:id="rId3" tooltip=""/>
          </p:cNvPr>
          <p:cNvSpPr/>
          <p:nvPr/>
        </p:nvSpPr>
        <p:spPr>
          <a:xfrm>
            <a:off x="7232904" y="24780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SVAMITVA Scheme, Ministry of Panchayati Raj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03720" y="2962656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Shape 38"/>
          <p:cNvSpPr/>
          <p:nvPr/>
        </p:nvSpPr>
        <p:spPr>
          <a:xfrm>
            <a:off x="6976872" y="3086100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1" name="Text 39">
            <a:hlinkClick r:id="rId4" tooltip=""/>
          </p:cNvPr>
          <p:cNvSpPr/>
          <p:nvPr/>
        </p:nvSpPr>
        <p:spPr>
          <a:xfrm>
            <a:off x="7232904" y="29626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Maharashtra Bhumi Abhilekh / Mahabhulekh Portal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03720" y="3447288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3" name="Shape 41"/>
          <p:cNvSpPr/>
          <p:nvPr/>
        </p:nvSpPr>
        <p:spPr>
          <a:xfrm>
            <a:off x="6976872" y="3570732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4" name="Text 42"/>
          <p:cNvSpPr/>
          <p:nvPr/>
        </p:nvSpPr>
        <p:spPr>
          <a:xfrm>
            <a:off x="7232904" y="3447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Plot Report, Village Khedi, Taluka Narkhed, Dist. Nagpur (Survey No. 255)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3931920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6" name="Shape 44"/>
          <p:cNvSpPr/>
          <p:nvPr/>
        </p:nvSpPr>
        <p:spPr>
          <a:xfrm>
            <a:off x="6976872" y="4055364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47" name="Text 45">
            <a:hlinkClick r:id="rId5" tooltip=""/>
          </p:cNvPr>
          <p:cNvSpPr/>
          <p:nvPr/>
        </p:nvSpPr>
        <p:spPr>
          <a:xfrm>
            <a:off x="7232904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Segment Anything Model (Kirillov et al.)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03720" y="4416552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9" name="Shape 47"/>
          <p:cNvSpPr/>
          <p:nvPr/>
        </p:nvSpPr>
        <p:spPr>
          <a:xfrm>
            <a:off x="6976872" y="4539996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0" name="Text 48">
            <a:hlinkClick r:id="rId6" tooltip=""/>
          </p:cNvPr>
          <p:cNvSpPr/>
          <p:nvPr/>
        </p:nvSpPr>
        <p:spPr>
          <a:xfrm>
            <a:off x="7232904" y="4416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PostGIS Documentation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03720" y="4901184"/>
            <a:ext cx="4754880" cy="4114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2" name="Shape 50"/>
          <p:cNvSpPr/>
          <p:nvPr/>
        </p:nvSpPr>
        <p:spPr>
          <a:xfrm>
            <a:off x="6976872" y="5024628"/>
            <a:ext cx="164592" cy="164592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53" name="Text 51">
            <a:hlinkClick r:id="rId7" tooltip=""/>
          </p:cNvPr>
          <p:cNvSpPr/>
          <p:nvPr/>
        </p:nvSpPr>
        <p:spPr>
          <a:xfrm>
            <a:off x="7232904" y="49011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 Geometric Documentation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6473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PARCELS. ACCURATE RECORDS. EMPOWERING INDIA.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79992" y="6473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ADVANTE  |  SIH 2026  |  6/6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2026-09-03T08:13:04Z</dcterms:created>
  <dcterms:modified xsi:type="dcterms:W3CDTF">2026-09-03T08:13:04Z</dcterms:modified>
</cp:coreProperties>
</file>
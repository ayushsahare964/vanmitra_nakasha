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91" r:id="rId2"/>
    <p:sldId id="281" r:id="rId3"/>
    <p:sldId id="290" r:id="rId4"/>
    <p:sldId id="293" r:id="rId5"/>
    <p:sldId id="294" r:id="rId6"/>
    <p:sldId id="296" r:id="rId7"/>
    <p:sldId id="256" r:id="rId8"/>
    <p:sldId id="258" r:id="rId9"/>
    <p:sldId id="282" r:id="rId10"/>
    <p:sldId id="283" r:id="rId11"/>
    <p:sldId id="285" r:id="rId12"/>
    <p:sldId id="297" r:id="rId13"/>
    <p:sldId id="298" r:id="rId14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>
        <p:scale>
          <a:sx n="50" d="100"/>
          <a:sy n="50" d="100"/>
        </p:scale>
        <p:origin x="1934" y="6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11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hyperlink" Target="https://seatssoftware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alescu.ro/liviu/fet/" TargetMode="External"/><Relationship Id="rId5" Type="http://schemas.openxmlformats.org/officeDocument/2006/relationships/hyperlink" Target="https://www.unitime.org/" TargetMode="External"/><Relationship Id="rId10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hyperlink" Target="https://doi.org/10.1016/j.ejor.2022.07.018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seatssoftware.com/" TargetMode="External"/><Relationship Id="rId3" Type="http://schemas.openxmlformats.org/officeDocument/2006/relationships/image" Target="../media/image18.png"/><Relationship Id="rId7" Type="http://schemas.openxmlformats.org/officeDocument/2006/relationships/hyperlink" Target="https://lalescu.ro/liviu/fet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unitime.org/" TargetMode="External"/><Relationship Id="rId5" Type="http://schemas.openxmlformats.org/officeDocument/2006/relationships/image" Target="../media/image22.png"/><Relationship Id="rId10" Type="http://schemas.openxmlformats.org/officeDocument/2006/relationships/hyperlink" Target="https://doi.org/10.1016/j.ejor.2022.07.018" TargetMode="External"/><Relationship Id="rId4" Type="http://schemas.openxmlformats.org/officeDocument/2006/relationships/image" Target="../media/image16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913024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31691" y="323850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7716" y="1225843"/>
            <a:ext cx="1071034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 </a:t>
            </a:r>
            <a:r>
              <a:rPr lang="en-IN" sz="2400" dirty="0"/>
              <a:t>25028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2400" dirty="0"/>
              <a:t>Smart Classroom &amp; </a:t>
            </a:r>
          </a:p>
          <a:p>
            <a:pPr algn="just">
              <a:lnSpc>
                <a:spcPct val="200000"/>
              </a:lnSpc>
            </a:pPr>
            <a:r>
              <a:rPr lang="en-IN" sz="2400" dirty="0"/>
              <a:t>     Timetable Scheduler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401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sz="2400" dirty="0" err="1">
                <a:latin typeface="Azonix" pitchFamily="50" charset="0"/>
                <a:cs typeface="Arial" panose="020B0604020202020204" pitchFamily="34" charset="0"/>
              </a:rPr>
              <a:t>InnoHex</a:t>
            </a:r>
            <a:endParaRPr lang="en-US" sz="2400" dirty="0">
              <a:latin typeface="Azonix" pitchFamily="50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-20761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8709BBA-D6E7-6EAA-9451-E7E3C7E98099}"/>
              </a:ext>
            </a:extLst>
          </p:cNvPr>
          <p:cNvSpPr/>
          <p:nvPr/>
        </p:nvSpPr>
        <p:spPr>
          <a:xfrm>
            <a:off x="7081045" y="944226"/>
            <a:ext cx="4969441" cy="5274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Single Corner Rounded 16">
            <a:extLst>
              <a:ext uri="{FF2B5EF4-FFF2-40B4-BE49-F238E27FC236}">
                <a16:creationId xmlns:a16="http://schemas.microsoft.com/office/drawing/2014/main" id="{1251CC14-3BBF-5DA8-1485-9BC9EA2EB1D8}"/>
              </a:ext>
            </a:extLst>
          </p:cNvPr>
          <p:cNvSpPr/>
          <p:nvPr/>
        </p:nvSpPr>
        <p:spPr>
          <a:xfrm>
            <a:off x="300984" y="2598235"/>
            <a:ext cx="6273436" cy="3108084"/>
          </a:xfrm>
          <a:prstGeom prst="round1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51824" y="-386411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4B4C6387-BDF0-2496-7872-BF012E76CE6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6133" y="55106"/>
            <a:ext cx="1882485" cy="7014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opperplate Gothic Bold" panose="020E0705020206020404" pitchFamily="34" charset="0"/>
              </a:rPr>
              <a:t>InnoHex</a:t>
            </a:r>
            <a:endParaRPr lang="en-IN" dirty="0">
              <a:latin typeface="Copperplate Gothic Bold" panose="020E07050202060204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5AE5AA1-751F-C4CF-E51F-165BE1827B94}"/>
              </a:ext>
            </a:extLst>
          </p:cNvPr>
          <p:cNvSpPr/>
          <p:nvPr/>
        </p:nvSpPr>
        <p:spPr>
          <a:xfrm>
            <a:off x="251824" y="944226"/>
            <a:ext cx="6688691" cy="120033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80DA79-4569-3579-CD00-CEB51898DEEF}"/>
              </a:ext>
            </a:extLst>
          </p:cNvPr>
          <p:cNvSpPr txBox="1"/>
          <p:nvPr/>
        </p:nvSpPr>
        <p:spPr>
          <a:xfrm>
            <a:off x="251824" y="944227"/>
            <a:ext cx="67800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Problem – 1. </a:t>
            </a:r>
            <a:r>
              <a:rPr lang="en-US" b="1" dirty="0"/>
              <a:t>Manual scheduling </a:t>
            </a:r>
            <a:r>
              <a:rPr lang="en-US" dirty="0"/>
              <a:t>causes frequent conflicts and errors.</a:t>
            </a:r>
          </a:p>
          <a:p>
            <a:r>
              <a:rPr lang="en-US" dirty="0"/>
              <a:t>     		   </a:t>
            </a:r>
            <a:r>
              <a:rPr lang="en-US" dirty="0">
                <a:latin typeface="Bell MT" panose="02020503060305020303" pitchFamily="18" charset="0"/>
              </a:rPr>
              <a:t>2</a:t>
            </a:r>
            <a:r>
              <a:rPr lang="en-US" dirty="0"/>
              <a:t>. Faculty and classroom resources are </a:t>
            </a:r>
            <a:r>
              <a:rPr lang="en-US" b="1" dirty="0"/>
              <a:t>underutilized</a:t>
            </a:r>
            <a:r>
              <a:rPr lang="en-US" dirty="0"/>
              <a:t>.</a:t>
            </a:r>
          </a:p>
          <a:p>
            <a:r>
              <a:rPr lang="en-US" dirty="0"/>
              <a:t>		   </a:t>
            </a:r>
            <a:r>
              <a:rPr lang="en-US" dirty="0">
                <a:latin typeface="Bell MT" panose="02020503060305020303" pitchFamily="18" charset="0"/>
              </a:rPr>
              <a:t>3</a:t>
            </a:r>
            <a:r>
              <a:rPr lang="en-US" dirty="0"/>
              <a:t>. </a:t>
            </a:r>
            <a:r>
              <a:rPr lang="en-US" b="1" dirty="0"/>
              <a:t>Last-minute changes </a:t>
            </a:r>
            <a:r>
              <a:rPr lang="en-US" dirty="0"/>
              <a:t>are hard to manage.</a:t>
            </a:r>
          </a:p>
          <a:p>
            <a:r>
              <a:rPr lang="en-US" dirty="0"/>
              <a:t>		   </a:t>
            </a:r>
            <a:r>
              <a:rPr lang="en-US" dirty="0">
                <a:latin typeface="Bell MT" panose="02020503060305020303" pitchFamily="18" charset="0"/>
              </a:rPr>
              <a:t>4</a:t>
            </a:r>
            <a:r>
              <a:rPr lang="en-US" dirty="0"/>
              <a:t>. Student and staff </a:t>
            </a:r>
            <a:r>
              <a:rPr lang="en-US" b="1" dirty="0"/>
              <a:t>satisfaction</a:t>
            </a:r>
            <a:r>
              <a:rPr lang="en-US" dirty="0"/>
              <a:t> is reduced.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A2EC2B-0F89-2EDC-C532-A1A0739E5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34" y="2909913"/>
            <a:ext cx="6001492" cy="261228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7F2B72D-2E9F-84A6-3B35-8A97CE670CC5}"/>
              </a:ext>
            </a:extLst>
          </p:cNvPr>
          <p:cNvSpPr txBox="1"/>
          <p:nvPr/>
        </p:nvSpPr>
        <p:spPr>
          <a:xfrm>
            <a:off x="312974" y="2622387"/>
            <a:ext cx="16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Uniqueness - 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FCB867-F0F8-4CC3-5D8C-7326105CCA80}"/>
              </a:ext>
            </a:extLst>
          </p:cNvPr>
          <p:cNvSpPr txBox="1"/>
          <p:nvPr/>
        </p:nvSpPr>
        <p:spPr>
          <a:xfrm>
            <a:off x="7102720" y="926660"/>
            <a:ext cx="4957451" cy="5555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00" b="1" u="sng" dirty="0">
                <a:latin typeface="Bell MT" panose="02020503060305020303" pitchFamily="18" charset="0"/>
              </a:rPr>
              <a:t>Proposed Solution  </a:t>
            </a:r>
            <a:r>
              <a:rPr lang="en-IN" sz="1600" b="1" dirty="0">
                <a:latin typeface="Bell MT" panose="02020503060305020303" pitchFamily="18" charset="0"/>
              </a:rPr>
              <a:t>- </a:t>
            </a:r>
            <a:r>
              <a:rPr lang="en-US" sz="1600" dirty="0" err="1"/>
              <a:t>EduScheduler</a:t>
            </a:r>
            <a:r>
              <a:rPr lang="en-US" sz="1600" dirty="0"/>
              <a:t> Pro: </a:t>
            </a:r>
            <a:r>
              <a:rPr lang="en-US" sz="1600" b="1" dirty="0"/>
              <a:t>AI-Powered</a:t>
            </a:r>
            <a:r>
              <a:rPr lang="en-US" sz="1600" dirty="0"/>
              <a:t> Smart </a:t>
            </a:r>
            <a:r>
              <a:rPr lang="en-US" sz="1600" b="1" dirty="0"/>
              <a:t>Timetable Revolution</a:t>
            </a:r>
          </a:p>
          <a:p>
            <a:endParaRPr lang="en-US" sz="1600" b="1" dirty="0"/>
          </a:p>
          <a:p>
            <a:r>
              <a:rPr lang="en-US" sz="1600" dirty="0"/>
              <a:t>Intelligent </a:t>
            </a:r>
            <a:r>
              <a:rPr lang="en-US" sz="1600" b="1" dirty="0"/>
              <a:t>web-based</a:t>
            </a:r>
            <a:r>
              <a:rPr lang="en-US" sz="1600" dirty="0"/>
              <a:t> platform that transforms manual scheduling chaos into </a:t>
            </a:r>
            <a:r>
              <a:rPr lang="en-US" sz="1600" b="1" dirty="0"/>
              <a:t>automated optimization</a:t>
            </a:r>
            <a:r>
              <a:rPr lang="en-US" sz="1600" dirty="0"/>
              <a:t>, generating conflict-free timetables for </a:t>
            </a:r>
            <a:r>
              <a:rPr lang="en-US" sz="1600" b="1" dirty="0"/>
              <a:t>multiple divisions </a:t>
            </a:r>
            <a:r>
              <a:rPr lang="en-US" sz="1600" dirty="0"/>
              <a:t>simultaneously with </a:t>
            </a:r>
            <a:r>
              <a:rPr lang="en-US" sz="1600" b="1" dirty="0"/>
              <a:t>real-time editing </a:t>
            </a:r>
            <a:r>
              <a:rPr lang="en-US" sz="1600" dirty="0"/>
              <a:t>and smart collaboration.</a:t>
            </a:r>
          </a:p>
          <a:p>
            <a:endParaRPr lang="en-US" sz="1600" dirty="0"/>
          </a:p>
          <a:p>
            <a:r>
              <a:rPr lang="en-IN" sz="1600" dirty="0"/>
              <a:t>🎯 </a:t>
            </a:r>
            <a:r>
              <a:rPr lang="en-IN" sz="1600" b="1" dirty="0"/>
              <a:t>Multi-Division Intelligence</a:t>
            </a:r>
            <a:r>
              <a:rPr lang="en-IN" sz="1600" dirty="0"/>
              <a:t>: Processes all divisions simultaneously</a:t>
            </a:r>
            <a:br>
              <a:rPr lang="en-IN" sz="1600" dirty="0"/>
            </a:br>
            <a:r>
              <a:rPr lang="en-IN" sz="1600" dirty="0"/>
              <a:t>⚡ </a:t>
            </a:r>
            <a:r>
              <a:rPr lang="en-IN" sz="1600" b="1" dirty="0"/>
              <a:t>6-Hour Academic Limit</a:t>
            </a:r>
            <a:r>
              <a:rPr lang="en-IN" sz="1600" dirty="0"/>
              <a:t>: Enforces balanced student workload</a:t>
            </a:r>
            <a:br>
              <a:rPr lang="en-IN" sz="1600" dirty="0"/>
            </a:br>
            <a:r>
              <a:rPr lang="en-IN" sz="1600" dirty="0"/>
              <a:t>🤖 </a:t>
            </a:r>
            <a:r>
              <a:rPr lang="en-IN" sz="1600" b="1" dirty="0"/>
              <a:t>Zero-Conflict Guarantee</a:t>
            </a:r>
            <a:r>
              <a:rPr lang="en-IN" sz="1600" dirty="0"/>
              <a:t>: No faculty double-booking across divisions</a:t>
            </a:r>
            <a:br>
              <a:rPr lang="en-IN" sz="1600" dirty="0"/>
            </a:br>
            <a:r>
              <a:rPr lang="en-IN" sz="1600" dirty="0"/>
              <a:t>📊 </a:t>
            </a:r>
            <a:r>
              <a:rPr lang="en-IN" sz="1600" b="1" dirty="0"/>
              <a:t>Smart Break Placement</a:t>
            </a:r>
            <a:r>
              <a:rPr lang="en-IN" sz="1600" dirty="0"/>
              <a:t>: Prevents continuous 6-hour sessions</a:t>
            </a:r>
            <a:br>
              <a:rPr lang="en-IN" sz="1600" dirty="0"/>
            </a:br>
            <a:r>
              <a:rPr lang="en-IN" sz="1600" dirty="0"/>
              <a:t>🔄 </a:t>
            </a:r>
            <a:r>
              <a:rPr lang="en-IN" sz="1600" b="1" dirty="0"/>
              <a:t>Lab Session Optimization</a:t>
            </a:r>
            <a:r>
              <a:rPr lang="en-IN" sz="1600" dirty="0"/>
              <a:t>: Perfect break hour block allocation</a:t>
            </a:r>
            <a:br>
              <a:rPr lang="en-IN" sz="1600" dirty="0"/>
            </a:br>
            <a:r>
              <a:rPr lang="en-IN" sz="1600" dirty="0"/>
              <a:t>📱 </a:t>
            </a:r>
            <a:r>
              <a:rPr lang="en-IN" sz="1600" b="1" dirty="0"/>
              <a:t>Real-Time Configuration</a:t>
            </a:r>
            <a:r>
              <a:rPr lang="en-IN" sz="1600" dirty="0"/>
              <a:t>: Live constraint adjustment capability</a:t>
            </a:r>
            <a:br>
              <a:rPr lang="en-US" sz="1600" dirty="0"/>
            </a:br>
            <a:endParaRPr lang="en-IN" sz="1600" b="1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29A231B6-C01F-09CC-8D2C-CCAEB90C45C2}"/>
              </a:ext>
            </a:extLst>
          </p:cNvPr>
          <p:cNvSpPr/>
          <p:nvPr/>
        </p:nvSpPr>
        <p:spPr>
          <a:xfrm>
            <a:off x="16479" y="1022555"/>
            <a:ext cx="4953000" cy="4857135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17060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-68813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CC1A2B35-3E58-06AB-E59F-AC22FE39B5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4959" y="50156"/>
            <a:ext cx="1882485" cy="7014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opperplate Gothic Bold" panose="020E0705020206020404" pitchFamily="34" charset="0"/>
              </a:rPr>
              <a:t>InnoHex</a:t>
            </a:r>
            <a:endParaRPr lang="en-IN" dirty="0">
              <a:latin typeface="Copperplate Gothic Bold" panose="020E07050202060204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CA8277-8059-6B11-8E1A-72E8B8908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3795" y="567813"/>
            <a:ext cx="6030864" cy="57223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4280058-BADF-8C9B-0A88-433011259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611" y="404594"/>
            <a:ext cx="7305428" cy="6093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88FAA45-0022-94F2-9940-ECE3CCCAFC58}"/>
              </a:ext>
            </a:extLst>
          </p:cNvPr>
          <p:cNvSpPr/>
          <p:nvPr/>
        </p:nvSpPr>
        <p:spPr>
          <a:xfrm>
            <a:off x="203200" y="4369050"/>
            <a:ext cx="5394960" cy="41175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3532B321-6C07-C12F-E001-EAF2007B0D70}"/>
              </a:ext>
            </a:extLst>
          </p:cNvPr>
          <p:cNvSpPr/>
          <p:nvPr/>
        </p:nvSpPr>
        <p:spPr>
          <a:xfrm>
            <a:off x="544206" y="2729568"/>
            <a:ext cx="6837106" cy="1523843"/>
          </a:xfrm>
          <a:prstGeom prst="round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Diagonal Corners Rounded 29">
            <a:extLst>
              <a:ext uri="{FF2B5EF4-FFF2-40B4-BE49-F238E27FC236}">
                <a16:creationId xmlns:a16="http://schemas.microsoft.com/office/drawing/2014/main" id="{995D31C9-00C5-9E89-893B-A88C7CDF430A}"/>
              </a:ext>
            </a:extLst>
          </p:cNvPr>
          <p:cNvSpPr/>
          <p:nvPr/>
        </p:nvSpPr>
        <p:spPr>
          <a:xfrm>
            <a:off x="544206" y="1095375"/>
            <a:ext cx="6837106" cy="1509214"/>
          </a:xfrm>
          <a:prstGeom prst="round2Diag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9E06084C-99F0-DDAA-65D6-C0634D566025}"/>
              </a:ext>
            </a:extLst>
          </p:cNvPr>
          <p:cNvSpPr/>
          <p:nvPr/>
        </p:nvSpPr>
        <p:spPr>
          <a:xfrm>
            <a:off x="206719" y="4646942"/>
            <a:ext cx="11843767" cy="1625260"/>
          </a:xfrm>
          <a:prstGeom prst="round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A1608E7-94ED-BFAB-0167-60CA19304340}"/>
              </a:ext>
            </a:extLst>
          </p:cNvPr>
          <p:cNvSpPr/>
          <p:nvPr/>
        </p:nvSpPr>
        <p:spPr>
          <a:xfrm>
            <a:off x="7640320" y="999479"/>
            <a:ext cx="4566784" cy="3500569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6317F61B-5EAF-79C0-E046-217ADA1DD6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4959" y="220758"/>
            <a:ext cx="1882485" cy="7014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opperplate Gothic Bold" panose="020E0705020206020404" pitchFamily="34" charset="0"/>
              </a:rPr>
              <a:t>InnoHex</a:t>
            </a:r>
            <a:endParaRPr lang="en-IN" dirty="0">
              <a:latin typeface="Copperplate Gothic Bold" panose="020E07050202060204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AA6B65-B619-26D9-45A3-A50CE28AF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814" y="1067356"/>
            <a:ext cx="3774594" cy="3432692"/>
          </a:xfrm>
          <a:prstGeom prst="rect">
            <a:avLst/>
          </a:prstGeom>
        </p:spPr>
      </p:pic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EAB1D95D-E944-19B4-6DE5-F9B101B3D89A}"/>
              </a:ext>
            </a:extLst>
          </p:cNvPr>
          <p:cNvSpPr/>
          <p:nvPr/>
        </p:nvSpPr>
        <p:spPr>
          <a:xfrm>
            <a:off x="8718550" y="1071256"/>
            <a:ext cx="2275840" cy="415903"/>
          </a:xfrm>
          <a:prstGeom prst="round2Diag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3F30CC-5CF9-9D32-8FA1-69305352DBB8}"/>
              </a:ext>
            </a:extLst>
          </p:cNvPr>
          <p:cNvSpPr txBox="1"/>
          <p:nvPr/>
        </p:nvSpPr>
        <p:spPr>
          <a:xfrm>
            <a:off x="7885226" y="1200097"/>
            <a:ext cx="6121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Bell MT" panose="02020503060305020303" pitchFamily="18" charset="0"/>
              </a:rPr>
              <a:t>Market Validation &amp; Business Potential</a:t>
            </a:r>
          </a:p>
          <a:p>
            <a:endParaRPr lang="en-IN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2050" name="Picture 2" descr="Challenge - Free business and finance icons">
            <a:extLst>
              <a:ext uri="{FF2B5EF4-FFF2-40B4-BE49-F238E27FC236}">
                <a16:creationId xmlns:a16="http://schemas.microsoft.com/office/drawing/2014/main" id="{39192CEE-6B62-B472-F2FD-3E9EAE416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550" y="4771922"/>
            <a:ext cx="1375300" cy="137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Viability Icon - Free Download Business Icons | IconScout">
            <a:extLst>
              <a:ext uri="{FF2B5EF4-FFF2-40B4-BE49-F238E27FC236}">
                <a16:creationId xmlns:a16="http://schemas.microsoft.com/office/drawing/2014/main" id="{712BEB79-B0CE-E995-7E6B-7CE826629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216" y="2797794"/>
            <a:ext cx="593833" cy="593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easibility - Free miscellaneous icons">
            <a:extLst>
              <a:ext uri="{FF2B5EF4-FFF2-40B4-BE49-F238E27FC236}">
                <a16:creationId xmlns:a16="http://schemas.microsoft.com/office/drawing/2014/main" id="{E5BC2AE9-8316-4FF9-3771-0635C2D01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509" y="1095375"/>
            <a:ext cx="694540" cy="69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285A1A-9D43-70C4-4BDA-A9CAE3963E64}"/>
              </a:ext>
            </a:extLst>
          </p:cNvPr>
          <p:cNvSpPr txBox="1"/>
          <p:nvPr/>
        </p:nvSpPr>
        <p:spPr>
          <a:xfrm>
            <a:off x="3165350" y="1242269"/>
            <a:ext cx="698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4A1740-3B16-6CE5-DC03-C49CF8E20D60}"/>
              </a:ext>
            </a:extLst>
          </p:cNvPr>
          <p:cNvSpPr txBox="1"/>
          <p:nvPr/>
        </p:nvSpPr>
        <p:spPr>
          <a:xfrm>
            <a:off x="3197843" y="2893532"/>
            <a:ext cx="1580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VIABILITY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1CAE72-C9BF-51BB-B760-493C56255DB3}"/>
              </a:ext>
            </a:extLst>
          </p:cNvPr>
          <p:cNvSpPr txBox="1"/>
          <p:nvPr/>
        </p:nvSpPr>
        <p:spPr>
          <a:xfrm>
            <a:off x="279598" y="4320030"/>
            <a:ext cx="5889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POTENTIAL CHALLENGES AND STRATEGIES 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0CAB69-0BCB-49E2-DF23-0B6BEE2BE33C}"/>
              </a:ext>
            </a:extLst>
          </p:cNvPr>
          <p:cNvSpPr txBox="1"/>
          <p:nvPr/>
        </p:nvSpPr>
        <p:spPr>
          <a:xfrm>
            <a:off x="544206" y="1773592"/>
            <a:ext cx="7005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fkGroteskNeue"/>
              </a:rPr>
              <a:t> Proven AI Algorithms: </a:t>
            </a:r>
            <a:r>
              <a:rPr lang="en-IN" sz="1600" b="1" i="0" dirty="0">
                <a:effectLst/>
                <a:latin typeface="fkGroteskNeue"/>
              </a:rPr>
              <a:t>Genetic algorithms </a:t>
            </a:r>
            <a:r>
              <a:rPr lang="en-IN" sz="1600" b="0" i="0" dirty="0">
                <a:effectLst/>
                <a:latin typeface="fkGroteskNeue"/>
              </a:rPr>
              <a:t>achieve </a:t>
            </a:r>
            <a:r>
              <a:rPr lang="en-IN" sz="1600" b="1" i="0" dirty="0">
                <a:effectLst/>
                <a:latin typeface="fkGroteskNeue"/>
              </a:rPr>
              <a:t>95% </a:t>
            </a:r>
            <a:r>
              <a:rPr lang="en-IN" sz="1600" b="0" i="0" dirty="0">
                <a:effectLst/>
                <a:latin typeface="fkGroteskNeue"/>
              </a:rPr>
              <a:t>optimization success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fkGroteskNeue"/>
              </a:rPr>
              <a:t> </a:t>
            </a:r>
            <a:r>
              <a:rPr lang="en-IN" sz="1600" b="1" i="0" dirty="0">
                <a:effectLst/>
                <a:latin typeface="fkGroteskNeue"/>
              </a:rPr>
              <a:t>Modern Stack </a:t>
            </a:r>
            <a:r>
              <a:rPr lang="en-IN" sz="1600" b="0" i="0" dirty="0">
                <a:effectLst/>
                <a:latin typeface="fkGroteskNeue"/>
              </a:rPr>
              <a:t>tools support </a:t>
            </a:r>
            <a:r>
              <a:rPr lang="en-IN" sz="1600" b="1" i="0" dirty="0">
                <a:effectLst/>
                <a:latin typeface="fkGroteskNeue"/>
              </a:rPr>
              <a:t>rapid development </a:t>
            </a:r>
            <a:r>
              <a:rPr lang="en-IN" sz="1600" b="0" i="0" dirty="0">
                <a:effectLst/>
                <a:latin typeface="fkGroteskNeue"/>
              </a:rPr>
              <a:t>and reliability.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b="0" i="0" dirty="0">
                <a:effectLst/>
                <a:latin typeface="fkGroteskNeue"/>
              </a:rPr>
              <a:t> Generates </a:t>
            </a:r>
            <a:r>
              <a:rPr lang="en-IN" sz="1600" b="1" i="0" dirty="0">
                <a:effectLst/>
                <a:latin typeface="fkGroteskNeue"/>
              </a:rPr>
              <a:t>conflict-free</a:t>
            </a:r>
            <a:r>
              <a:rPr lang="en-IN" sz="1600" b="0" i="0" dirty="0">
                <a:effectLst/>
                <a:latin typeface="fkGroteskNeue"/>
              </a:rPr>
              <a:t> timetables for </a:t>
            </a:r>
            <a:r>
              <a:rPr lang="en-IN" sz="1600" b="1" dirty="0">
                <a:latin typeface="fkGroteskNeue"/>
              </a:rPr>
              <a:t>multi-divisions</a:t>
            </a:r>
            <a:r>
              <a:rPr lang="en-IN" sz="1600" dirty="0">
                <a:latin typeface="fkGroteskNeue"/>
              </a:rPr>
              <a:t>. </a:t>
            </a:r>
            <a:endParaRPr lang="en-IN" sz="1600" b="0" i="0" dirty="0">
              <a:effectLst/>
              <a:latin typeface="fkGroteskNeue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67EC8F-88BC-EF25-39AB-99E3407516DA}"/>
              </a:ext>
            </a:extLst>
          </p:cNvPr>
          <p:cNvSpPr txBox="1"/>
          <p:nvPr/>
        </p:nvSpPr>
        <p:spPr>
          <a:xfrm>
            <a:off x="544206" y="3424855"/>
            <a:ext cx="7005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effectLst/>
                <a:latin typeface="fkGroteskNeue"/>
              </a:rPr>
              <a:t> 87% </a:t>
            </a:r>
            <a:r>
              <a:rPr lang="en-US" sz="1600" b="0" i="0" dirty="0">
                <a:effectLst/>
                <a:latin typeface="fkGroteskNeue"/>
              </a:rPr>
              <a:t>of universities still use the </a:t>
            </a:r>
            <a:r>
              <a:rPr lang="en-IN" sz="1600" b="0" i="0" dirty="0">
                <a:effectLst/>
                <a:latin typeface="fkGroteskNeue"/>
              </a:rPr>
              <a:t>traditional way</a:t>
            </a:r>
            <a:r>
              <a:rPr lang="en-US" sz="1600" b="0" i="0" dirty="0">
                <a:effectLst/>
                <a:latin typeface="fkGroteskNeue"/>
              </a:rPr>
              <a:t> of spreadsheets for timetabling.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fkGroteskNeue"/>
              </a:rPr>
              <a:t> Reduces </a:t>
            </a:r>
            <a:r>
              <a:rPr lang="en-US" sz="1600" b="1" i="0" dirty="0">
                <a:effectLst/>
                <a:latin typeface="fkGroteskNeue"/>
              </a:rPr>
              <a:t>12–15 days </a:t>
            </a:r>
            <a:r>
              <a:rPr lang="en-US" sz="1600" b="0" i="0" dirty="0">
                <a:effectLst/>
                <a:latin typeface="fkGroteskNeue"/>
              </a:rPr>
              <a:t>of manual scheduling </a:t>
            </a:r>
            <a:r>
              <a:rPr lang="en-US" sz="1600" i="0" dirty="0">
                <a:effectLst/>
                <a:latin typeface="fkGroteskNeue"/>
              </a:rPr>
              <a:t>to</a:t>
            </a:r>
            <a:r>
              <a:rPr lang="en-US" sz="1600" b="1" i="0" dirty="0">
                <a:effectLst/>
                <a:latin typeface="fkGroteskNeue"/>
              </a:rPr>
              <a:t> 2–3 hours</a:t>
            </a:r>
            <a:r>
              <a:rPr lang="en-US" sz="1600" b="0" i="0" dirty="0">
                <a:effectLst/>
                <a:latin typeface="fkGroteskNeue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No existing system handles 6-hour limits + multi-division optimization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600" b="0" i="0" dirty="0">
              <a:effectLst/>
              <a:latin typeface="fkGroteskNeue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2256EB-0B52-3BB4-A1BC-5E91CE801FD1}"/>
              </a:ext>
            </a:extLst>
          </p:cNvPr>
          <p:cNvSpPr txBox="1"/>
          <p:nvPr/>
        </p:nvSpPr>
        <p:spPr>
          <a:xfrm>
            <a:off x="279598" y="4719119"/>
            <a:ext cx="7005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Complex Input Requirements</a:t>
            </a:r>
            <a:r>
              <a:rPr lang="en-US" sz="1600" dirty="0"/>
              <a:t>: Multiple configuration </a:t>
            </a:r>
          </a:p>
          <a:p>
            <a:r>
              <a:rPr lang="en-US" sz="1600" dirty="0"/>
              <a:t>parameters needed</a:t>
            </a:r>
            <a:endParaRPr lang="en-IN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BB1868-FF16-AB64-47C5-929992D1C5AA}"/>
              </a:ext>
            </a:extLst>
          </p:cNvPr>
          <p:cNvSpPr txBox="1"/>
          <p:nvPr/>
        </p:nvSpPr>
        <p:spPr>
          <a:xfrm>
            <a:off x="279598" y="5299091"/>
            <a:ext cx="7005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2. Algorithm Complexity</a:t>
            </a:r>
            <a:r>
              <a:rPr lang="en-US" sz="1600" dirty="0"/>
              <a:t>: Advanced constraint satisfaction </a:t>
            </a:r>
          </a:p>
          <a:p>
            <a:r>
              <a:rPr lang="en-US" sz="1600" dirty="0"/>
              <a:t>requirements</a:t>
            </a:r>
            <a:endParaRPr lang="en-IN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92F66A-EDE7-F882-85F6-986D24AFC405}"/>
              </a:ext>
            </a:extLst>
          </p:cNvPr>
          <p:cNvSpPr txBox="1"/>
          <p:nvPr/>
        </p:nvSpPr>
        <p:spPr>
          <a:xfrm>
            <a:off x="279598" y="5784140"/>
            <a:ext cx="7005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3. Performance Scaling</a:t>
            </a:r>
            <a:r>
              <a:rPr lang="en-US" sz="1600" dirty="0"/>
              <a:t>: Large datasets with multiple </a:t>
            </a:r>
          </a:p>
          <a:p>
            <a:r>
              <a:rPr lang="en-US" sz="1600" dirty="0"/>
              <a:t>constraints</a:t>
            </a:r>
            <a:endParaRPr lang="en-IN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9EC9DD-B95D-DCFB-83B8-2579FE19F7D6}"/>
              </a:ext>
            </a:extLst>
          </p:cNvPr>
          <p:cNvSpPr txBox="1"/>
          <p:nvPr/>
        </p:nvSpPr>
        <p:spPr>
          <a:xfrm>
            <a:off x="6657340" y="5666860"/>
            <a:ext cx="5393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Strategy</a:t>
            </a:r>
            <a:r>
              <a:rPr lang="en-US" sz="1600" dirty="0"/>
              <a:t>: Parallel processing and cloud auto-scaling for peak loads</a:t>
            </a:r>
            <a:endParaRPr lang="en-IN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8019F5-F26B-B1AF-280B-3CD1875ED5C9}"/>
              </a:ext>
            </a:extLst>
          </p:cNvPr>
          <p:cNvSpPr txBox="1"/>
          <p:nvPr/>
        </p:nvSpPr>
        <p:spPr>
          <a:xfrm>
            <a:off x="6647690" y="5368384"/>
            <a:ext cx="7005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Strategy</a:t>
            </a:r>
            <a:r>
              <a:rPr lang="en-US" sz="1600" dirty="0"/>
              <a:t>: Modular algorithm design with incremental optimization</a:t>
            </a:r>
            <a:endParaRPr lang="en-IN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273285-9BFB-AB98-4198-EA365632F82E}"/>
              </a:ext>
            </a:extLst>
          </p:cNvPr>
          <p:cNvSpPr txBox="1"/>
          <p:nvPr/>
        </p:nvSpPr>
        <p:spPr>
          <a:xfrm>
            <a:off x="6647690" y="4798503"/>
            <a:ext cx="7005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Strategy: </a:t>
            </a:r>
            <a:r>
              <a:rPr lang="en-US" sz="1600" dirty="0"/>
              <a:t>Guided setup wizard with pre-filled templates </a:t>
            </a:r>
          </a:p>
          <a:p>
            <a:r>
              <a:rPr lang="en-US" sz="1600" dirty="0"/>
              <a:t>and validation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F892B72-964E-38BF-4A42-3777DC622B34}"/>
              </a:ext>
            </a:extLst>
          </p:cNvPr>
          <p:cNvSpPr/>
          <p:nvPr/>
        </p:nvSpPr>
        <p:spPr>
          <a:xfrm>
            <a:off x="248681" y="1095375"/>
            <a:ext cx="2801073" cy="37705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B0F32FBB-FBDD-2C32-BDBA-F0337480CAB6}"/>
              </a:ext>
            </a:extLst>
          </p:cNvPr>
          <p:cNvSpPr/>
          <p:nvPr/>
        </p:nvSpPr>
        <p:spPr>
          <a:xfrm>
            <a:off x="6715760" y="1290320"/>
            <a:ext cx="5334726" cy="2434748"/>
          </a:xfrm>
          <a:prstGeom prst="round1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B8ABA384-F7FE-6D38-1356-EE1373CEB9E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4959" y="220758"/>
            <a:ext cx="1882485" cy="7014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opperplate Gothic Bold" panose="020E0705020206020404" pitchFamily="34" charset="0"/>
              </a:rPr>
              <a:t>InnoHex</a:t>
            </a:r>
            <a:endParaRPr lang="en-IN" dirty="0">
              <a:latin typeface="Copperplate Gothic Bold" panose="020E07050202060204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C9CE54-D1A1-BE13-F9A6-E0732A133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880" y="1456399"/>
            <a:ext cx="5384800" cy="22686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44F146-A2F3-5A74-C5F1-0C359F257A74}"/>
              </a:ext>
            </a:extLst>
          </p:cNvPr>
          <p:cNvSpPr txBox="1"/>
          <p:nvPr/>
        </p:nvSpPr>
        <p:spPr>
          <a:xfrm>
            <a:off x="8981803" y="2534542"/>
            <a:ext cx="7311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</a:rPr>
              <a:t>15 days -&gt;</a:t>
            </a:r>
          </a:p>
          <a:p>
            <a:r>
              <a:rPr lang="en-IN" sz="800" dirty="0">
                <a:solidFill>
                  <a:schemeClr val="bg1"/>
                </a:solidFill>
              </a:rPr>
              <a:t>few hours </a:t>
            </a:r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3DD5FC5A-8910-35AF-0224-73522CC12C7A}"/>
              </a:ext>
            </a:extLst>
          </p:cNvPr>
          <p:cNvSpPr/>
          <p:nvPr/>
        </p:nvSpPr>
        <p:spPr>
          <a:xfrm>
            <a:off x="6715760" y="3891146"/>
            <a:ext cx="5334726" cy="696093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Real User Validation - Prof. Vikas </a:t>
            </a:r>
            <a:r>
              <a:rPr lang="en-IN" b="1" dirty="0" err="1">
                <a:solidFill>
                  <a:schemeClr val="tx1"/>
                </a:solidFill>
              </a:rPr>
              <a:t>Nandeshwar</a:t>
            </a:r>
            <a:r>
              <a:rPr lang="en-IN" b="1" dirty="0">
                <a:solidFill>
                  <a:schemeClr val="tx1"/>
                </a:solidFill>
              </a:rPr>
              <a:t> (VIT Instrumentation Dept)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3080" name="Picture 8" descr="Download Free Audience Icons in PNG &amp; SVG">
            <a:extLst>
              <a:ext uri="{FF2B5EF4-FFF2-40B4-BE49-F238E27FC236}">
                <a16:creationId xmlns:a16="http://schemas.microsoft.com/office/drawing/2014/main" id="{B614765A-4510-A34C-CA3B-574671CA3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259" y="1190624"/>
            <a:ext cx="604682" cy="604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8EB3EE9-3CE6-ACF9-86C0-7AA4B63F74EC}"/>
              </a:ext>
            </a:extLst>
          </p:cNvPr>
          <p:cNvSpPr/>
          <p:nvPr/>
        </p:nvSpPr>
        <p:spPr>
          <a:xfrm>
            <a:off x="3517840" y="1095374"/>
            <a:ext cx="2801073" cy="37705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0D29D4-9CA6-4C5B-E1E7-AD32E5040D37}"/>
              </a:ext>
            </a:extLst>
          </p:cNvPr>
          <p:cNvSpPr txBox="1"/>
          <p:nvPr/>
        </p:nvSpPr>
        <p:spPr>
          <a:xfrm>
            <a:off x="1029767" y="1148975"/>
            <a:ext cx="18953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fkGroteskNeue"/>
              </a:rPr>
              <a:t>Impact on Target</a:t>
            </a:r>
          </a:p>
          <a:p>
            <a:r>
              <a:rPr lang="en-IN" b="1" i="0" dirty="0">
                <a:effectLst/>
                <a:latin typeface="fkGroteskNeue"/>
              </a:rPr>
              <a:t> Audience</a:t>
            </a:r>
            <a:endParaRPr lang="en-IN" dirty="0"/>
          </a:p>
        </p:txBody>
      </p:sp>
      <p:pic>
        <p:nvPicPr>
          <p:cNvPr id="3082" name="Picture 10" descr="Benefits - Free business and finance icons">
            <a:extLst>
              <a:ext uri="{FF2B5EF4-FFF2-40B4-BE49-F238E27FC236}">
                <a16:creationId xmlns:a16="http://schemas.microsoft.com/office/drawing/2014/main" id="{74388531-4CB1-AE92-47BA-8035E7AE0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208" y="1190625"/>
            <a:ext cx="604682" cy="604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F8DEC27-8280-C48D-F056-B4F965A7EF64}"/>
              </a:ext>
            </a:extLst>
          </p:cNvPr>
          <p:cNvSpPr txBox="1"/>
          <p:nvPr/>
        </p:nvSpPr>
        <p:spPr>
          <a:xfrm>
            <a:off x="4648200" y="127750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fkGroteskNeue"/>
              </a:rPr>
              <a:t>Benefits</a:t>
            </a:r>
            <a:endParaRPr lang="en-IN" dirty="0"/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C27B68B4-ACF6-A940-6336-5E7B0246F105}"/>
              </a:ext>
            </a:extLst>
          </p:cNvPr>
          <p:cNvSpPr/>
          <p:nvPr/>
        </p:nvSpPr>
        <p:spPr>
          <a:xfrm>
            <a:off x="248681" y="5031979"/>
            <a:ext cx="11545922" cy="1143000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B6C0A1-F1CC-D031-91CE-DA582A6D4B41}"/>
              </a:ext>
            </a:extLst>
          </p:cNvPr>
          <p:cNvSpPr txBox="1"/>
          <p:nvPr/>
        </p:nvSpPr>
        <p:spPr>
          <a:xfrm>
            <a:off x="1341596" y="5251649"/>
            <a:ext cx="104530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fkGroteskNeue"/>
              </a:rPr>
              <a:t>Global Market Impact:   </a:t>
            </a:r>
            <a:r>
              <a:rPr lang="en-US" b="1" dirty="0"/>
              <a:t>87% </a:t>
            </a:r>
            <a:r>
              <a:rPr lang="en-US" dirty="0"/>
              <a:t>of universities still use </a:t>
            </a:r>
            <a:r>
              <a:rPr lang="en-US" b="1" dirty="0"/>
              <a:t>manual timetabling </a:t>
            </a:r>
            <a:r>
              <a:rPr lang="en-US" dirty="0"/>
              <a:t>- our solution can transform scheduling for </a:t>
            </a:r>
            <a:r>
              <a:rPr lang="en-US" b="1" dirty="0"/>
              <a:t>45,000+ higher education institutions </a:t>
            </a:r>
            <a:r>
              <a:rPr lang="en-US" dirty="0"/>
              <a:t>in India alone, affecting </a:t>
            </a:r>
            <a:r>
              <a:rPr lang="en-US" b="1" dirty="0"/>
              <a:t>40+ million students and faculty.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3088" name="Picture 16" descr="Global market - Free commerce and shopping icons">
            <a:extLst>
              <a:ext uri="{FF2B5EF4-FFF2-40B4-BE49-F238E27FC236}">
                <a16:creationId xmlns:a16="http://schemas.microsoft.com/office/drawing/2014/main" id="{B1F1F790-0174-D884-7D6F-D17B92D57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97" y="5152839"/>
            <a:ext cx="944199" cy="94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AD438AA-DCAC-9737-E1A3-72230BED207C}"/>
              </a:ext>
            </a:extLst>
          </p:cNvPr>
          <p:cNvSpPr txBox="1"/>
          <p:nvPr/>
        </p:nvSpPr>
        <p:spPr>
          <a:xfrm>
            <a:off x="248681" y="1788666"/>
            <a:ext cx="28010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Faculty:</a:t>
            </a:r>
            <a:r>
              <a:rPr lang="en-US" dirty="0"/>
              <a:t>  </a:t>
            </a:r>
            <a:r>
              <a:rPr lang="en-US" b="1" dirty="0"/>
              <a:t>99% stress </a:t>
            </a:r>
            <a:r>
              <a:rPr lang="en-US" dirty="0"/>
              <a:t>reduction from manual scheduling</a:t>
            </a:r>
          </a:p>
          <a:p>
            <a:endParaRPr lang="en-US" dirty="0"/>
          </a:p>
          <a:p>
            <a:r>
              <a:rPr lang="en-US" b="1" dirty="0"/>
              <a:t>Students:</a:t>
            </a:r>
            <a:r>
              <a:rPr lang="en-US" dirty="0"/>
              <a:t> Zero schedule confusion, fair break distribution, improved academic satisfaction</a:t>
            </a:r>
          </a:p>
          <a:p>
            <a:endParaRPr lang="en-US" dirty="0"/>
          </a:p>
          <a:p>
            <a:r>
              <a:rPr lang="en-US" b="1" dirty="0"/>
              <a:t>Administrators:</a:t>
            </a:r>
            <a:r>
              <a:rPr lang="en-US" dirty="0"/>
              <a:t> 15 days → 2 hours scheduling time</a:t>
            </a:r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F9B71-FC75-6D00-027A-636317C79D1D}"/>
              </a:ext>
            </a:extLst>
          </p:cNvPr>
          <p:cNvSpPr txBox="1"/>
          <p:nvPr/>
        </p:nvSpPr>
        <p:spPr>
          <a:xfrm>
            <a:off x="3557332" y="1760944"/>
            <a:ext cx="28010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Social:</a:t>
            </a:r>
            <a:r>
              <a:rPr lang="en-US" dirty="0"/>
              <a:t> Eliminates faculty burnout, reduces student scheduling anxiety, improves work-life balance for 500+ staff per college</a:t>
            </a:r>
            <a:endParaRPr lang="en-IN" dirty="0"/>
          </a:p>
          <a:p>
            <a:r>
              <a:rPr lang="en-IN" b="1" dirty="0"/>
              <a:t>Economic:</a:t>
            </a:r>
            <a:r>
              <a:rPr lang="en-IN" dirty="0"/>
              <a:t> Cost savings of ₹3-8 lakhs annually, 95% classroom utilization optimization, reduced administrative workforce needs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B4822BFC-9DDC-9DCA-336E-E8FD05374F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4959" y="220758"/>
            <a:ext cx="1882485" cy="7014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opperplate Gothic Bold" panose="020E0705020206020404" pitchFamily="34" charset="0"/>
              </a:rPr>
              <a:t>InnoHex</a:t>
            </a:r>
            <a:endParaRPr lang="en-IN" dirty="0">
              <a:latin typeface="Copperplate Gothic Bold" panose="020E0705020206020404" pitchFamily="34" charset="0"/>
            </a:endParaRPr>
          </a:p>
        </p:txBody>
      </p:sp>
      <p:pic>
        <p:nvPicPr>
          <p:cNvPr id="4098" name="Picture 2" descr="Competition - Free sports and competition icons">
            <a:extLst>
              <a:ext uri="{FF2B5EF4-FFF2-40B4-BE49-F238E27FC236}">
                <a16:creationId xmlns:a16="http://schemas.microsoft.com/office/drawing/2014/main" id="{CF0B6479-F44C-8CF7-656B-072633A79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1" y="1190624"/>
            <a:ext cx="885197" cy="88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FCBEC1-C1BF-9223-3C7A-AB9B2F0C6A65}"/>
              </a:ext>
            </a:extLst>
          </p:cNvPr>
          <p:cNvSpPr txBox="1"/>
          <p:nvPr/>
        </p:nvSpPr>
        <p:spPr>
          <a:xfrm>
            <a:off x="1036201" y="1007012"/>
            <a:ext cx="60940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Competitor Links: 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effectLst/>
                <a:latin typeface="fkGroteskNeue"/>
              </a:rPr>
              <a:t>UniTime</a:t>
            </a:r>
            <a:r>
              <a:rPr lang="en-US" b="1" i="0" dirty="0">
                <a:effectLst/>
                <a:latin typeface="fkGroteskNeue"/>
              </a:rPr>
              <a:t>:</a:t>
            </a:r>
            <a:r>
              <a:rPr lang="en-US" b="0" i="0" dirty="0">
                <a:effectLst/>
                <a:latin typeface="fkGroteskNeue"/>
              </a:rPr>
              <a:t> </a:t>
            </a:r>
            <a:r>
              <a:rPr lang="en-US" b="0" i="0" dirty="0">
                <a:effectLst/>
                <a:latin typeface="fkGroteskNeue"/>
                <a:hlinkClick r:id="rId5"/>
              </a:rPr>
              <a:t>https://www.unitime.org</a:t>
            </a:r>
            <a:r>
              <a:rPr lang="en-US" b="0" i="0" dirty="0">
                <a:effectLst/>
                <a:latin typeface="fkGroteskNeue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fkGroteskNeue"/>
              </a:rPr>
              <a:t>FET Software:</a:t>
            </a:r>
            <a:r>
              <a:rPr lang="en-US" b="0" i="0" dirty="0">
                <a:effectLst/>
                <a:latin typeface="fkGroteskNeue"/>
              </a:rPr>
              <a:t> </a:t>
            </a:r>
            <a:r>
              <a:rPr lang="en-US" b="0" i="0" dirty="0">
                <a:effectLst/>
                <a:latin typeface="fkGroteskNeue"/>
                <a:hlinkClick r:id="rId6"/>
              </a:rPr>
              <a:t>https://lalescu.ro/liviu/fet/</a:t>
            </a:r>
            <a:endParaRPr lang="en-US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 err="1">
                <a:effectLst/>
                <a:latin typeface="fkGroteskNeue"/>
              </a:rPr>
              <a:t>SEAtS</a:t>
            </a:r>
            <a:r>
              <a:rPr lang="en-US" b="1" i="0" dirty="0">
                <a:effectLst/>
                <a:latin typeface="fkGroteskNeue"/>
              </a:rPr>
              <a:t> ONE:</a:t>
            </a:r>
            <a:r>
              <a:rPr lang="en-US" b="0" i="0" dirty="0">
                <a:effectLst/>
                <a:latin typeface="fkGroteskNeue"/>
              </a:rPr>
              <a:t> </a:t>
            </a:r>
            <a:r>
              <a:rPr lang="en-US" b="0" i="0" dirty="0">
                <a:effectLst/>
                <a:latin typeface="fkGroteskNeue"/>
                <a:hlinkClick r:id="rId7"/>
              </a:rPr>
              <a:t>https://seatssoftware.com</a:t>
            </a:r>
            <a:endParaRPr lang="en-US" b="0" i="0" dirty="0">
              <a:effectLst/>
              <a:latin typeface="fkGroteskNeue"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4112" name="Picture 16" descr="Download Free Research paper Icons in PNG &amp; SVG">
            <a:extLst>
              <a:ext uri="{FF2B5EF4-FFF2-40B4-BE49-F238E27FC236}">
                <a16:creationId xmlns:a16="http://schemas.microsoft.com/office/drawing/2014/main" id="{A5EEA37D-57C3-3B01-B371-F10A618E1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66" y="3373376"/>
            <a:ext cx="885197" cy="88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4A99AB-F262-7A84-9FF2-5BA949DE7DE7}"/>
              </a:ext>
            </a:extLst>
          </p:cNvPr>
          <p:cNvSpPr txBox="1"/>
          <p:nvPr/>
        </p:nvSpPr>
        <p:spPr>
          <a:xfrm>
            <a:off x="935712" y="2632778"/>
            <a:ext cx="5063658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500" b="1" i="0" dirty="0">
                <a:effectLst/>
                <a:latin typeface="fkGroteskNeue"/>
              </a:rPr>
              <a:t>Research Foundation Citations:</a:t>
            </a:r>
            <a:endParaRPr lang="en-US" sz="1500" b="1" dirty="0">
              <a:latin typeface="fkGroteskNeue"/>
            </a:endParaRPr>
          </a:p>
          <a:p>
            <a:pPr algn="l">
              <a:buNone/>
            </a:pPr>
            <a:endParaRPr lang="en-US" sz="15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1" i="0" dirty="0">
                <a:effectLst/>
                <a:latin typeface="fkGroteskNeue"/>
              </a:rPr>
              <a:t>"Educational Timetabling: Problems, Benchmarks, and State-  </a:t>
            </a:r>
          </a:p>
          <a:p>
            <a:pPr algn="l"/>
            <a:r>
              <a:rPr lang="en-US" sz="1500" b="1" dirty="0">
                <a:latin typeface="fkGroteskNeue"/>
              </a:rPr>
              <a:t>   </a:t>
            </a:r>
            <a:r>
              <a:rPr lang="en-US" sz="1500" b="1" i="0" dirty="0">
                <a:effectLst/>
                <a:latin typeface="fkGroteskNeue"/>
              </a:rPr>
              <a:t>of-the-Art Results"</a:t>
            </a:r>
            <a:r>
              <a:rPr lang="en-US" sz="1500" b="0" i="0" dirty="0">
                <a:effectLst/>
                <a:latin typeface="fkGroteskNeue"/>
              </a:rPr>
              <a:t> (2023) -   </a:t>
            </a:r>
            <a:r>
              <a:rPr lang="en-US" sz="1500" b="0" i="0" dirty="0">
                <a:effectLst/>
                <a:latin typeface="fkGroteskNeue"/>
                <a:hlinkClick r:id="rId9"/>
              </a:rPr>
              <a:t>https://doi.org/10.1016/j.ejor.2022.07.018</a:t>
            </a:r>
            <a:endParaRPr lang="en-US" sz="1500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1" i="0" dirty="0">
                <a:effectLst/>
                <a:latin typeface="fkGroteskNeue"/>
              </a:rPr>
              <a:t>"Genetic Algorithm for University Course Timetabling </a:t>
            </a:r>
          </a:p>
          <a:p>
            <a:pPr algn="l"/>
            <a:r>
              <a:rPr lang="en-US" sz="1500" b="1" i="0" dirty="0">
                <a:effectLst/>
                <a:latin typeface="fkGroteskNeue"/>
              </a:rPr>
              <a:t>    Problem"</a:t>
            </a:r>
            <a:r>
              <a:rPr lang="en-US" sz="1500" b="0" i="0" dirty="0">
                <a:effectLst/>
                <a:latin typeface="fkGroteskNeue"/>
              </a:rPr>
              <a:t> (2017) - University of Mississippi Research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1" i="0" dirty="0">
                <a:effectLst/>
                <a:latin typeface="fkGroteskNeue"/>
              </a:rPr>
              <a:t>"System of Automated Timetabling"</a:t>
            </a:r>
            <a:r>
              <a:rPr lang="en-US" sz="1500" b="0" i="0" dirty="0">
                <a:effectLst/>
                <a:latin typeface="fkGroteskNeue"/>
              </a:rPr>
              <a:t> (2003) - Silesian </a:t>
            </a:r>
          </a:p>
          <a:p>
            <a:pPr algn="l"/>
            <a:r>
              <a:rPr lang="en-US" sz="1500" dirty="0">
                <a:latin typeface="fkGroteskNeue"/>
              </a:rPr>
              <a:t>   </a:t>
            </a:r>
            <a:r>
              <a:rPr lang="en-US" sz="1500" b="0" i="0" dirty="0">
                <a:effectLst/>
                <a:latin typeface="fkGroteskNeue"/>
              </a:rPr>
              <a:t>University of Technology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1" i="0" dirty="0">
                <a:effectLst/>
                <a:latin typeface="fkGroteskNeue"/>
              </a:rPr>
              <a:t>"Timetable Management in Educational Institutions"</a:t>
            </a:r>
            <a:r>
              <a:rPr lang="en-US" sz="1500" b="0" i="0" dirty="0">
                <a:effectLst/>
                <a:latin typeface="fkGroteskNeue"/>
              </a:rPr>
              <a:t> (2025) – </a:t>
            </a:r>
            <a:r>
              <a:rPr lang="en-US" sz="1500" dirty="0">
                <a:latin typeface="fkGroteskNeue"/>
              </a:rPr>
              <a:t> </a:t>
            </a:r>
            <a:r>
              <a:rPr lang="en-US" sz="1500" b="0" i="0" dirty="0">
                <a:effectLst/>
                <a:latin typeface="fkGroteskNeue"/>
              </a:rPr>
              <a:t>IRJMETS Journal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B8DAD72-0925-2FAA-617D-82B34DFD290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3192" y="1025317"/>
            <a:ext cx="6597054" cy="512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889760" y="615594"/>
            <a:ext cx="8412480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endParaRPr/>
          </a:p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TITLE PAGE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14400" y="283642"/>
            <a:ext cx="10363200" cy="804317"/>
            <a:chOff x="0" y="0"/>
            <a:chExt cx="20726400" cy="16086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726400" cy="1608634"/>
            </a:xfrm>
            <a:custGeom>
              <a:avLst/>
              <a:gdLst/>
              <a:ahLst/>
              <a:cxnLst/>
              <a:rect l="l" t="t" r="r" b="b"/>
              <a:pathLst>
                <a:path w="20726400" h="1608634">
                  <a:moveTo>
                    <a:pt x="0" y="0"/>
                  </a:moveTo>
                  <a:lnTo>
                    <a:pt x="20726400" y="0"/>
                  </a:lnTo>
                  <a:lnTo>
                    <a:pt x="20726400" y="1608634"/>
                  </a:lnTo>
                  <a:lnTo>
                    <a:pt x="0" y="16086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20726400" cy="1627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800"/>
                </a:lnSpc>
              </a:pPr>
              <a:r>
                <a:rPr lang="en-US" sz="4000" b="1" dirty="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SOCIOTHON 2025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10949176" y="122070"/>
            <a:ext cx="1114048" cy="1114048"/>
          </a:xfrm>
          <a:custGeom>
            <a:avLst/>
            <a:gdLst/>
            <a:ahLst/>
            <a:cxnLst/>
            <a:rect l="l" t="t" r="r" b="b"/>
            <a:pathLst>
              <a:path w="1671072" h="1671072">
                <a:moveTo>
                  <a:pt x="0" y="0"/>
                </a:moveTo>
                <a:lnTo>
                  <a:pt x="1671072" y="0"/>
                </a:lnTo>
                <a:lnTo>
                  <a:pt x="1671072" y="1671072"/>
                </a:lnTo>
                <a:lnTo>
                  <a:pt x="0" y="1671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32616" y="207293"/>
            <a:ext cx="609193" cy="943602"/>
          </a:xfrm>
          <a:custGeom>
            <a:avLst/>
            <a:gdLst/>
            <a:ahLst/>
            <a:cxnLst/>
            <a:rect l="l" t="t" r="r" b="b"/>
            <a:pathLst>
              <a:path w="913790" h="1415403">
                <a:moveTo>
                  <a:pt x="0" y="0"/>
                </a:moveTo>
                <a:lnTo>
                  <a:pt x="913790" y="0"/>
                </a:lnTo>
                <a:lnTo>
                  <a:pt x="913790" y="1415404"/>
                </a:lnTo>
                <a:lnTo>
                  <a:pt x="0" y="141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472914" y="1074029"/>
            <a:ext cx="5246173" cy="5246173"/>
          </a:xfrm>
          <a:custGeom>
            <a:avLst/>
            <a:gdLst/>
            <a:ahLst/>
            <a:cxnLst/>
            <a:rect l="l" t="t" r="r" b="b"/>
            <a:pathLst>
              <a:path w="7869260" h="7869260">
                <a:moveTo>
                  <a:pt x="0" y="0"/>
                </a:moveTo>
                <a:lnTo>
                  <a:pt x="7869260" y="0"/>
                </a:lnTo>
                <a:lnTo>
                  <a:pt x="7869260" y="7869260"/>
                </a:lnTo>
                <a:lnTo>
                  <a:pt x="0" y="7869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0" y="6172200"/>
            <a:ext cx="12192000" cy="685800"/>
            <a:chOff x="0" y="0"/>
            <a:chExt cx="4816593" cy="2709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47391" y="1591021"/>
            <a:ext cx="11744609" cy="3974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80"/>
              </a:lnSpc>
            </a:pPr>
            <a:endParaRPr dirty="0"/>
          </a:p>
          <a:p>
            <a:pPr marL="434057" lvl="1" indent="-217028" algn="just">
              <a:lnSpc>
                <a:spcPts val="5760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</a:t>
            </a:r>
            <a:r>
              <a:rPr lang="en-IN" sz="2400" b="1" dirty="0">
                <a:latin typeface="Arial Bold" panose="020B0704020202020204" pitchFamily="34" charset="0"/>
                <a:cs typeface="Arial Bold" panose="020B0704020202020204" pitchFamily="34" charset="0"/>
              </a:rPr>
              <a:t>Higher Education Scheduling Crisis</a:t>
            </a:r>
            <a:endParaRPr lang="en-US" sz="2400" b="1" dirty="0">
              <a:solidFill>
                <a:srgbClr val="000000"/>
              </a:solidFill>
              <a:latin typeface="Arial Bold" panose="020B0704020202020204" pitchFamily="34" charset="0"/>
              <a:ea typeface="Arial Bold"/>
              <a:cs typeface="Arial Bold" panose="020B0704020202020204" pitchFamily="34" charset="0"/>
              <a:sym typeface="Arial Bold"/>
            </a:endParaRPr>
          </a:p>
          <a:p>
            <a:pPr marL="434057" lvl="1" indent="-217028" algn="just">
              <a:lnSpc>
                <a:spcPts val="5760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</a:t>
            </a:r>
            <a:r>
              <a:rPr lang="en-IN" sz="2400" b="1" dirty="0">
                <a:latin typeface="Arial Bold" panose="020B0704020202020204" pitchFamily="34" charset="0"/>
                <a:cs typeface="Arial Bold" panose="020B0704020202020204" pitchFamily="34" charset="0"/>
              </a:rPr>
              <a:t>Smart Education</a:t>
            </a: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 </a:t>
            </a:r>
          </a:p>
          <a:p>
            <a:pPr marL="434362" lvl="1" indent="-217181" algn="just">
              <a:lnSpc>
                <a:spcPts val="5760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  </a:t>
            </a:r>
          </a:p>
          <a:p>
            <a:pPr marL="434057" lvl="1" indent="-217028" algn="just">
              <a:lnSpc>
                <a:spcPts val="5760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 RANCKET’S </a:t>
            </a:r>
          </a:p>
          <a:p>
            <a:pPr marL="434362" lvl="1" indent="-217181" algn="just">
              <a:lnSpc>
                <a:spcPts val="5760"/>
              </a:lnSpc>
              <a:buFont typeface="Arial"/>
              <a:buChar char="•"/>
            </a:pPr>
            <a:r>
              <a:rPr lang="en-US" sz="24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Leader Name - 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800989" y="6359963"/>
            <a:ext cx="4590023" cy="30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20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PRISM : Sociothon 2025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AF3A9-2D16-F883-E588-0CB401C36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8709BBA-D6E7-6EAA-9451-E7E3C7E98099}"/>
              </a:ext>
            </a:extLst>
          </p:cNvPr>
          <p:cNvSpPr/>
          <p:nvPr/>
        </p:nvSpPr>
        <p:spPr>
          <a:xfrm>
            <a:off x="925849" y="2505978"/>
            <a:ext cx="10092175" cy="356202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5AE5AA1-751F-C4CF-E51F-165BE1827B94}"/>
              </a:ext>
            </a:extLst>
          </p:cNvPr>
          <p:cNvSpPr/>
          <p:nvPr/>
        </p:nvSpPr>
        <p:spPr>
          <a:xfrm>
            <a:off x="107473" y="1009481"/>
            <a:ext cx="11728927" cy="141431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38709CAA-648B-364D-E354-64B7DC83FE06}"/>
              </a:ext>
            </a:extLst>
          </p:cNvPr>
          <p:cNvSpPr/>
          <p:nvPr/>
        </p:nvSpPr>
        <p:spPr>
          <a:xfrm>
            <a:off x="11209775" y="-55562"/>
            <a:ext cx="982223" cy="982223"/>
          </a:xfrm>
          <a:custGeom>
            <a:avLst/>
            <a:gdLst/>
            <a:ahLst/>
            <a:cxnLst/>
            <a:rect l="l" t="t" r="r" b="b"/>
            <a:pathLst>
              <a:path w="1671072" h="1671072">
                <a:moveTo>
                  <a:pt x="0" y="0"/>
                </a:moveTo>
                <a:lnTo>
                  <a:pt x="1671072" y="0"/>
                </a:lnTo>
                <a:lnTo>
                  <a:pt x="1671072" y="1671072"/>
                </a:lnTo>
                <a:lnTo>
                  <a:pt x="0" y="1671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BC61AC2-3D9F-E36F-5709-6066EF492023}"/>
              </a:ext>
            </a:extLst>
          </p:cNvPr>
          <p:cNvSpPr/>
          <p:nvPr/>
        </p:nvSpPr>
        <p:spPr>
          <a:xfrm>
            <a:off x="133692" y="21601"/>
            <a:ext cx="508000" cy="786860"/>
          </a:xfrm>
          <a:custGeom>
            <a:avLst/>
            <a:gdLst/>
            <a:ahLst/>
            <a:cxnLst/>
            <a:rect l="l" t="t" r="r" b="b"/>
            <a:pathLst>
              <a:path w="913790" h="1415403">
                <a:moveTo>
                  <a:pt x="0" y="0"/>
                </a:moveTo>
                <a:lnTo>
                  <a:pt x="913790" y="0"/>
                </a:lnTo>
                <a:lnTo>
                  <a:pt x="913790" y="1415404"/>
                </a:lnTo>
                <a:lnTo>
                  <a:pt x="0" y="141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2A34107-9838-7DA8-9918-60B5193F53EA}"/>
              </a:ext>
            </a:extLst>
          </p:cNvPr>
          <p:cNvGrpSpPr/>
          <p:nvPr/>
        </p:nvGrpSpPr>
        <p:grpSpPr>
          <a:xfrm>
            <a:off x="0" y="6172200"/>
            <a:ext cx="12192000" cy="685800"/>
            <a:chOff x="0" y="0"/>
            <a:chExt cx="4816593" cy="27093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AF7D66C-A129-7377-5746-7445B1C065C6}"/>
                </a:ext>
              </a:extLst>
            </p:cNvPr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23278B5-F602-6F02-49C3-F7DE108025B0}"/>
                </a:ext>
              </a:extLst>
            </p:cNvPr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DEF7802-CF64-61D6-714A-7F0CE0170B87}"/>
              </a:ext>
            </a:extLst>
          </p:cNvPr>
          <p:cNvSpPr/>
          <p:nvPr/>
        </p:nvSpPr>
        <p:spPr>
          <a:xfrm>
            <a:off x="3472914" y="1091667"/>
            <a:ext cx="5246173" cy="5246173"/>
          </a:xfrm>
          <a:custGeom>
            <a:avLst/>
            <a:gdLst/>
            <a:ahLst/>
            <a:cxnLst/>
            <a:rect l="l" t="t" r="r" b="b"/>
            <a:pathLst>
              <a:path w="7869260" h="7869260">
                <a:moveTo>
                  <a:pt x="0" y="0"/>
                </a:moveTo>
                <a:lnTo>
                  <a:pt x="7869260" y="0"/>
                </a:lnTo>
                <a:lnTo>
                  <a:pt x="7869260" y="7869260"/>
                </a:lnTo>
                <a:lnTo>
                  <a:pt x="0" y="7869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7A7066B-A2C0-8A72-3162-A80012A60385}"/>
              </a:ext>
            </a:extLst>
          </p:cNvPr>
          <p:cNvSpPr txBox="1"/>
          <p:nvPr/>
        </p:nvSpPr>
        <p:spPr>
          <a:xfrm>
            <a:off x="3800989" y="6359963"/>
            <a:ext cx="4590023" cy="30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20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PRISM : Sociothon 2025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80DA79-4569-3579-CD00-CEB51898DEEF}"/>
              </a:ext>
            </a:extLst>
          </p:cNvPr>
          <p:cNvSpPr txBox="1"/>
          <p:nvPr/>
        </p:nvSpPr>
        <p:spPr>
          <a:xfrm>
            <a:off x="1803301" y="1134211"/>
            <a:ext cx="85853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Problem –     1. </a:t>
            </a:r>
            <a:r>
              <a:rPr lang="en-US" b="1" dirty="0"/>
              <a:t>Manual scheduling </a:t>
            </a:r>
            <a:r>
              <a:rPr lang="en-US" dirty="0"/>
              <a:t>causes frequent conflicts and errors.</a:t>
            </a:r>
          </a:p>
          <a:p>
            <a:r>
              <a:rPr lang="en-US" dirty="0"/>
              <a:t>     		   </a:t>
            </a:r>
            <a:r>
              <a:rPr lang="en-US" dirty="0">
                <a:latin typeface="Bell MT" panose="02020503060305020303" pitchFamily="18" charset="0"/>
              </a:rPr>
              <a:t>2</a:t>
            </a:r>
            <a:r>
              <a:rPr lang="en-US" dirty="0"/>
              <a:t>. Faculty and classroom resources are </a:t>
            </a:r>
            <a:r>
              <a:rPr lang="en-US" b="1" dirty="0"/>
              <a:t>underutilized</a:t>
            </a:r>
            <a:r>
              <a:rPr lang="en-US" dirty="0"/>
              <a:t>.</a:t>
            </a:r>
          </a:p>
          <a:p>
            <a:r>
              <a:rPr lang="en-US" dirty="0"/>
              <a:t>		   </a:t>
            </a:r>
            <a:r>
              <a:rPr lang="en-US" dirty="0">
                <a:latin typeface="Bell MT" panose="02020503060305020303" pitchFamily="18" charset="0"/>
              </a:rPr>
              <a:t>3</a:t>
            </a:r>
            <a:r>
              <a:rPr lang="en-US" dirty="0"/>
              <a:t>. </a:t>
            </a:r>
            <a:r>
              <a:rPr lang="en-US" b="1" dirty="0"/>
              <a:t>Last-minute changes </a:t>
            </a:r>
            <a:r>
              <a:rPr lang="en-US" dirty="0"/>
              <a:t>are hard to manage.</a:t>
            </a:r>
          </a:p>
          <a:p>
            <a:r>
              <a:rPr lang="en-US" dirty="0"/>
              <a:t>		   </a:t>
            </a:r>
            <a:r>
              <a:rPr lang="en-US" dirty="0">
                <a:latin typeface="Bell MT" panose="02020503060305020303" pitchFamily="18" charset="0"/>
              </a:rPr>
              <a:t>4</a:t>
            </a:r>
            <a:r>
              <a:rPr lang="en-US" dirty="0"/>
              <a:t>. Student and staff </a:t>
            </a:r>
            <a:r>
              <a:rPr lang="en-US" b="1" dirty="0"/>
              <a:t>satisfaction</a:t>
            </a:r>
            <a:r>
              <a:rPr lang="en-US" dirty="0"/>
              <a:t> is reduced.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FCB867-F0F8-4CC3-5D8C-7326105CCA80}"/>
              </a:ext>
            </a:extLst>
          </p:cNvPr>
          <p:cNvSpPr txBox="1"/>
          <p:nvPr/>
        </p:nvSpPr>
        <p:spPr>
          <a:xfrm>
            <a:off x="925849" y="2435150"/>
            <a:ext cx="10092175" cy="3791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67" b="1" u="sng" dirty="0">
                <a:latin typeface="Bell MT" panose="02020503060305020303" pitchFamily="18" charset="0"/>
              </a:rPr>
              <a:t>Proposed Solution  </a:t>
            </a:r>
            <a:r>
              <a:rPr lang="en-IN" sz="1867" b="1" dirty="0">
                <a:latin typeface="Bell MT" panose="02020503060305020303" pitchFamily="18" charset="0"/>
              </a:rPr>
              <a:t>- </a:t>
            </a:r>
            <a:r>
              <a:rPr lang="en-US" sz="1867" dirty="0" err="1"/>
              <a:t>EduScheduler</a:t>
            </a:r>
            <a:r>
              <a:rPr lang="en-US" sz="1867" dirty="0"/>
              <a:t> Pro: </a:t>
            </a:r>
            <a:r>
              <a:rPr lang="en-US" sz="1867" b="1" dirty="0"/>
              <a:t>AI-Powered</a:t>
            </a:r>
            <a:r>
              <a:rPr lang="en-US" sz="1867" dirty="0"/>
              <a:t> Smart </a:t>
            </a:r>
            <a:r>
              <a:rPr lang="en-US" sz="1867" b="1" dirty="0"/>
              <a:t>Timetable Revolution</a:t>
            </a:r>
          </a:p>
          <a:p>
            <a:endParaRPr lang="en-US" sz="1600" b="1" dirty="0"/>
          </a:p>
          <a:p>
            <a:r>
              <a:rPr lang="en-US" sz="1867" dirty="0"/>
              <a:t>Intelligent </a:t>
            </a:r>
            <a:r>
              <a:rPr lang="en-US" sz="1867" b="1" dirty="0"/>
              <a:t>web-based</a:t>
            </a:r>
            <a:r>
              <a:rPr lang="en-US" sz="1867" dirty="0"/>
              <a:t> platform that transforms manual scheduling chaos into </a:t>
            </a:r>
            <a:r>
              <a:rPr lang="en-US" sz="1867" b="1" dirty="0"/>
              <a:t>automated optimization</a:t>
            </a:r>
            <a:r>
              <a:rPr lang="en-US" sz="1867" dirty="0"/>
              <a:t>, generating conflict-free timetables for </a:t>
            </a:r>
            <a:r>
              <a:rPr lang="en-US" sz="1867" b="1" dirty="0"/>
              <a:t>multiple divisions </a:t>
            </a:r>
            <a:r>
              <a:rPr lang="en-US" sz="1867" dirty="0"/>
              <a:t>simultaneously with </a:t>
            </a:r>
            <a:r>
              <a:rPr lang="en-US" sz="1867" b="1" dirty="0"/>
              <a:t>real-time editing </a:t>
            </a:r>
            <a:r>
              <a:rPr lang="en-US" sz="1867" dirty="0"/>
              <a:t>and smart collaboration.</a:t>
            </a:r>
          </a:p>
          <a:p>
            <a:endParaRPr lang="en-US" sz="1867" dirty="0"/>
          </a:p>
          <a:p>
            <a:r>
              <a:rPr lang="en-IN" sz="1867" dirty="0"/>
              <a:t>🎯 </a:t>
            </a:r>
            <a:r>
              <a:rPr lang="en-IN" sz="1867" b="1" dirty="0"/>
              <a:t>Multi-Division Intelligence</a:t>
            </a:r>
            <a:r>
              <a:rPr lang="en-IN" sz="1867" dirty="0"/>
              <a:t>: Processes all divisions simultaneously</a:t>
            </a:r>
            <a:br>
              <a:rPr lang="en-IN" sz="1867" dirty="0"/>
            </a:br>
            <a:r>
              <a:rPr lang="en-IN" sz="1867" dirty="0"/>
              <a:t>⚡ </a:t>
            </a:r>
            <a:r>
              <a:rPr lang="en-IN" sz="1867" b="1" dirty="0"/>
              <a:t>6-Hour Academic Limit</a:t>
            </a:r>
            <a:r>
              <a:rPr lang="en-IN" sz="1867" dirty="0"/>
              <a:t>: Enforces balanced student workload</a:t>
            </a:r>
            <a:br>
              <a:rPr lang="en-IN" sz="1867" dirty="0"/>
            </a:br>
            <a:r>
              <a:rPr lang="en-IN" sz="1867" dirty="0"/>
              <a:t>🤖 </a:t>
            </a:r>
            <a:r>
              <a:rPr lang="en-IN" sz="1867" b="1" dirty="0"/>
              <a:t>Zero-Conflict Guarantee</a:t>
            </a:r>
            <a:r>
              <a:rPr lang="en-IN" sz="1867" dirty="0"/>
              <a:t>: No faculty double-booking across divisions</a:t>
            </a:r>
            <a:br>
              <a:rPr lang="en-IN" sz="1867" dirty="0"/>
            </a:br>
            <a:r>
              <a:rPr lang="en-IN" sz="1867" dirty="0"/>
              <a:t>📊 </a:t>
            </a:r>
            <a:r>
              <a:rPr lang="en-IN" sz="1867" b="1" dirty="0"/>
              <a:t>Smart Break Placement</a:t>
            </a:r>
            <a:r>
              <a:rPr lang="en-IN" sz="1867" dirty="0"/>
              <a:t>: Prevents continuous 6-hour sessions</a:t>
            </a:r>
            <a:br>
              <a:rPr lang="en-IN" sz="1867" dirty="0"/>
            </a:br>
            <a:r>
              <a:rPr lang="en-IN" sz="1867" dirty="0"/>
              <a:t>🔄 </a:t>
            </a:r>
            <a:r>
              <a:rPr lang="en-IN" sz="1867" b="1" dirty="0"/>
              <a:t>Lab Session Optimization</a:t>
            </a:r>
            <a:r>
              <a:rPr lang="en-IN" sz="1867" dirty="0"/>
              <a:t>: Perfect break hour block allocation</a:t>
            </a:r>
            <a:br>
              <a:rPr lang="en-IN" sz="1867" dirty="0"/>
            </a:br>
            <a:r>
              <a:rPr lang="en-IN" sz="1867" dirty="0"/>
              <a:t>📱 </a:t>
            </a:r>
            <a:r>
              <a:rPr lang="en-IN" sz="1867" b="1" dirty="0"/>
              <a:t>Real-Time Configuration</a:t>
            </a:r>
            <a:r>
              <a:rPr lang="en-IN" sz="1867" dirty="0"/>
              <a:t>: Live constraint adjustment capability</a:t>
            </a:r>
            <a:br>
              <a:rPr lang="en-US" sz="1600" dirty="0"/>
            </a:br>
            <a:endParaRPr lang="en-IN" sz="1600" b="1" dirty="0">
              <a:latin typeface="Bell MT" panose="02020503060305020303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0D15D0A-BFD5-E460-857B-FF89F50D9497}"/>
              </a:ext>
            </a:extLst>
          </p:cNvPr>
          <p:cNvSpPr txBox="1">
            <a:spLocks/>
          </p:cNvSpPr>
          <p:nvPr/>
        </p:nvSpPr>
        <p:spPr>
          <a:xfrm>
            <a:off x="2438399" y="-197257"/>
            <a:ext cx="73152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</p:spTree>
    <p:extLst>
      <p:ext uri="{BB962C8B-B14F-4D97-AF65-F5344CB8AC3E}">
        <p14:creationId xmlns:p14="http://schemas.microsoft.com/office/powerpoint/2010/main" val="3228422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2873B-DE0B-28D4-BA24-3D9D53752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F892B72-964E-38BF-4A42-3777DC622B34}"/>
              </a:ext>
            </a:extLst>
          </p:cNvPr>
          <p:cNvSpPr/>
          <p:nvPr/>
        </p:nvSpPr>
        <p:spPr>
          <a:xfrm>
            <a:off x="782160" y="853022"/>
            <a:ext cx="3402232" cy="34216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B065A3D9-D7E0-49FE-79CD-3A06A6FFFB37}"/>
              </a:ext>
            </a:extLst>
          </p:cNvPr>
          <p:cNvSpPr/>
          <p:nvPr/>
        </p:nvSpPr>
        <p:spPr>
          <a:xfrm>
            <a:off x="11209775" y="-55562"/>
            <a:ext cx="982223" cy="982223"/>
          </a:xfrm>
          <a:custGeom>
            <a:avLst/>
            <a:gdLst/>
            <a:ahLst/>
            <a:cxnLst/>
            <a:rect l="l" t="t" r="r" b="b"/>
            <a:pathLst>
              <a:path w="1671072" h="1671072">
                <a:moveTo>
                  <a:pt x="0" y="0"/>
                </a:moveTo>
                <a:lnTo>
                  <a:pt x="1671072" y="0"/>
                </a:lnTo>
                <a:lnTo>
                  <a:pt x="1671072" y="1671072"/>
                </a:lnTo>
                <a:lnTo>
                  <a:pt x="0" y="1671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0667CC9-AD58-944E-3544-D28835EB99CE}"/>
              </a:ext>
            </a:extLst>
          </p:cNvPr>
          <p:cNvSpPr/>
          <p:nvPr/>
        </p:nvSpPr>
        <p:spPr>
          <a:xfrm>
            <a:off x="133692" y="21601"/>
            <a:ext cx="508000" cy="786860"/>
          </a:xfrm>
          <a:custGeom>
            <a:avLst/>
            <a:gdLst/>
            <a:ahLst/>
            <a:cxnLst/>
            <a:rect l="l" t="t" r="r" b="b"/>
            <a:pathLst>
              <a:path w="913790" h="1415403">
                <a:moveTo>
                  <a:pt x="0" y="0"/>
                </a:moveTo>
                <a:lnTo>
                  <a:pt x="913790" y="0"/>
                </a:lnTo>
                <a:lnTo>
                  <a:pt x="913790" y="1415404"/>
                </a:lnTo>
                <a:lnTo>
                  <a:pt x="0" y="141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8AD966D-05C2-9D02-32F1-2387BBA94E89}"/>
              </a:ext>
            </a:extLst>
          </p:cNvPr>
          <p:cNvGrpSpPr/>
          <p:nvPr/>
        </p:nvGrpSpPr>
        <p:grpSpPr>
          <a:xfrm>
            <a:off x="0" y="6172200"/>
            <a:ext cx="12192000" cy="685800"/>
            <a:chOff x="0" y="0"/>
            <a:chExt cx="4816593" cy="27093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5B7410F-16AF-D8DF-3C5B-313CF8B642D7}"/>
                </a:ext>
              </a:extLst>
            </p:cNvPr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49919AB-55E4-044F-5160-224270251841}"/>
                </a:ext>
              </a:extLst>
            </p:cNvPr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5E51CA5-0E66-6AB7-0222-1BB734E32AC4}"/>
              </a:ext>
            </a:extLst>
          </p:cNvPr>
          <p:cNvSpPr/>
          <p:nvPr/>
        </p:nvSpPr>
        <p:spPr>
          <a:xfrm>
            <a:off x="3472914" y="1091667"/>
            <a:ext cx="5246173" cy="5246173"/>
          </a:xfrm>
          <a:custGeom>
            <a:avLst/>
            <a:gdLst/>
            <a:ahLst/>
            <a:cxnLst/>
            <a:rect l="l" t="t" r="r" b="b"/>
            <a:pathLst>
              <a:path w="7869260" h="7869260">
                <a:moveTo>
                  <a:pt x="0" y="0"/>
                </a:moveTo>
                <a:lnTo>
                  <a:pt x="7869260" y="0"/>
                </a:lnTo>
                <a:lnTo>
                  <a:pt x="7869260" y="7869260"/>
                </a:lnTo>
                <a:lnTo>
                  <a:pt x="0" y="7869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8A49A61-DAFD-A0E2-556E-E8F2BEBDBDC4}"/>
              </a:ext>
            </a:extLst>
          </p:cNvPr>
          <p:cNvSpPr txBox="1"/>
          <p:nvPr/>
        </p:nvSpPr>
        <p:spPr>
          <a:xfrm>
            <a:off x="3800989" y="6359963"/>
            <a:ext cx="4590023" cy="30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20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PRISM : Sociothon 2025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D438AA-DCAC-9737-E1A3-72230BED207C}"/>
              </a:ext>
            </a:extLst>
          </p:cNvPr>
          <p:cNvSpPr txBox="1"/>
          <p:nvPr/>
        </p:nvSpPr>
        <p:spPr>
          <a:xfrm>
            <a:off x="782160" y="1546314"/>
            <a:ext cx="34022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Faculty:</a:t>
            </a:r>
            <a:r>
              <a:rPr lang="en-US" dirty="0"/>
              <a:t>  </a:t>
            </a:r>
            <a:r>
              <a:rPr lang="en-US" b="1" dirty="0"/>
              <a:t>99% stress </a:t>
            </a:r>
            <a:r>
              <a:rPr lang="en-US" dirty="0"/>
              <a:t>reduction from manual scheduling</a:t>
            </a:r>
          </a:p>
          <a:p>
            <a:endParaRPr lang="en-US" dirty="0"/>
          </a:p>
          <a:p>
            <a:r>
              <a:rPr lang="en-US" b="1" dirty="0"/>
              <a:t>Students:</a:t>
            </a:r>
            <a:r>
              <a:rPr lang="en-US" dirty="0"/>
              <a:t> Zero schedule confusion, fair break distribution, improved academic satisfaction</a:t>
            </a:r>
          </a:p>
          <a:p>
            <a:endParaRPr lang="en-US" dirty="0"/>
          </a:p>
          <a:p>
            <a:r>
              <a:rPr lang="en-US" b="1" dirty="0"/>
              <a:t>Administrators:</a:t>
            </a:r>
            <a:r>
              <a:rPr lang="en-US" dirty="0"/>
              <a:t> 15 days → 2 hours scheduling time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0D29D4-9CA6-4C5B-E1E7-AD32E5040D37}"/>
              </a:ext>
            </a:extLst>
          </p:cNvPr>
          <p:cNvSpPr txBox="1"/>
          <p:nvPr/>
        </p:nvSpPr>
        <p:spPr>
          <a:xfrm>
            <a:off x="1563246" y="906622"/>
            <a:ext cx="2302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fkGroteskNeue"/>
              </a:rPr>
              <a:t>Impact on Target</a:t>
            </a:r>
          </a:p>
          <a:p>
            <a:r>
              <a:rPr lang="en-IN" b="1" dirty="0">
                <a:latin typeface="fkGroteskNeue"/>
              </a:rPr>
              <a:t> Audience</a:t>
            </a:r>
            <a:endParaRPr lang="en-IN" dirty="0"/>
          </a:p>
        </p:txBody>
      </p:sp>
      <p:pic>
        <p:nvPicPr>
          <p:cNvPr id="3080" name="Picture 8" descr="Download Free Audience Icons in PNG &amp; SVG">
            <a:extLst>
              <a:ext uri="{FF2B5EF4-FFF2-40B4-BE49-F238E27FC236}">
                <a16:creationId xmlns:a16="http://schemas.microsoft.com/office/drawing/2014/main" id="{B614765A-4510-A34C-CA3B-574671CA3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738" y="948270"/>
            <a:ext cx="734457" cy="73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C27B68B4-ACF6-A940-6336-5E7B0246F105}"/>
              </a:ext>
            </a:extLst>
          </p:cNvPr>
          <p:cNvSpPr/>
          <p:nvPr/>
        </p:nvSpPr>
        <p:spPr>
          <a:xfrm>
            <a:off x="248682" y="5031979"/>
            <a:ext cx="11545922" cy="1143000"/>
          </a:xfrm>
          <a:prstGeom prst="round2Diag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B6C0A1-F1CC-D031-91CE-DA582A6D4B41}"/>
              </a:ext>
            </a:extLst>
          </p:cNvPr>
          <p:cNvSpPr txBox="1"/>
          <p:nvPr/>
        </p:nvSpPr>
        <p:spPr>
          <a:xfrm>
            <a:off x="1341597" y="5251650"/>
            <a:ext cx="104530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fkGroteskNeue"/>
              </a:rPr>
              <a:t>Global Market Impact:   </a:t>
            </a:r>
            <a:r>
              <a:rPr lang="en-US" b="1" dirty="0"/>
              <a:t>87% </a:t>
            </a:r>
            <a:r>
              <a:rPr lang="en-US" dirty="0"/>
              <a:t>of universities still use </a:t>
            </a:r>
            <a:r>
              <a:rPr lang="en-US" b="1" dirty="0"/>
              <a:t>manual timetabling </a:t>
            </a:r>
            <a:r>
              <a:rPr lang="en-US" dirty="0"/>
              <a:t>- our solution can transform scheduling for </a:t>
            </a:r>
            <a:r>
              <a:rPr lang="en-US" b="1" dirty="0"/>
              <a:t>45,000+ higher education institutions </a:t>
            </a:r>
            <a:r>
              <a:rPr lang="en-US" dirty="0"/>
              <a:t>in India alone, affecting </a:t>
            </a:r>
            <a:r>
              <a:rPr lang="en-US" b="1" dirty="0"/>
              <a:t>40+ million students and faculty.</a:t>
            </a:r>
            <a:br>
              <a:rPr lang="en-IN" b="1" dirty="0"/>
            </a:br>
            <a:endParaRPr lang="en-IN" b="1" dirty="0"/>
          </a:p>
        </p:txBody>
      </p:sp>
      <p:pic>
        <p:nvPicPr>
          <p:cNvPr id="3088" name="Picture 16" descr="Global market - Free commerce and shopping icons">
            <a:extLst>
              <a:ext uri="{FF2B5EF4-FFF2-40B4-BE49-F238E27FC236}">
                <a16:creationId xmlns:a16="http://schemas.microsoft.com/office/drawing/2014/main" id="{B1F1F790-0174-D884-7D6F-D17B92D57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398" y="5152840"/>
            <a:ext cx="944199" cy="94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Flowchart: Alternate Process 23">
            <a:extLst>
              <a:ext uri="{FF2B5EF4-FFF2-40B4-BE49-F238E27FC236}">
                <a16:creationId xmlns:a16="http://schemas.microsoft.com/office/drawing/2014/main" id="{3DD5FC5A-8910-35AF-0224-73522CC12C7A}"/>
              </a:ext>
            </a:extLst>
          </p:cNvPr>
          <p:cNvSpPr/>
          <p:nvPr/>
        </p:nvSpPr>
        <p:spPr>
          <a:xfrm>
            <a:off x="2353013" y="4371094"/>
            <a:ext cx="7939298" cy="622185"/>
          </a:xfrm>
          <a:prstGeom prst="flowChartAlternateProcess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Real User Validation - Prof. Vikas </a:t>
            </a:r>
            <a:r>
              <a:rPr lang="en-IN" b="1" dirty="0" err="1">
                <a:solidFill>
                  <a:schemeClr val="tx1"/>
                </a:solidFill>
              </a:rPr>
              <a:t>Nandeshwar</a:t>
            </a:r>
            <a:r>
              <a:rPr lang="en-IN" b="1" dirty="0">
                <a:solidFill>
                  <a:schemeClr val="tx1"/>
                </a:solidFill>
              </a:rPr>
              <a:t> (VIT Instrumentation Dept)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66262BD7-FE8F-B2A2-17CC-06EEC4CAF79F}"/>
              </a:ext>
            </a:extLst>
          </p:cNvPr>
          <p:cNvSpPr txBox="1">
            <a:spLocks/>
          </p:cNvSpPr>
          <p:nvPr/>
        </p:nvSpPr>
        <p:spPr>
          <a:xfrm>
            <a:off x="2438399" y="79935"/>
            <a:ext cx="7315200" cy="762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</a:t>
            </a:r>
            <a:r>
              <a:rPr lang="en-IN" sz="24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INNOVATION </a:t>
            </a:r>
            <a:endParaRPr lang="en-US" sz="24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27" name="Rectangle: Single Corner Rounded 26">
            <a:extLst>
              <a:ext uri="{FF2B5EF4-FFF2-40B4-BE49-F238E27FC236}">
                <a16:creationId xmlns:a16="http://schemas.microsoft.com/office/drawing/2014/main" id="{1251CC14-3BBF-5DA8-1485-9BC9EA2EB1D8}"/>
              </a:ext>
            </a:extLst>
          </p:cNvPr>
          <p:cNvSpPr/>
          <p:nvPr/>
        </p:nvSpPr>
        <p:spPr>
          <a:xfrm>
            <a:off x="4564628" y="854440"/>
            <a:ext cx="6845212" cy="3391363"/>
          </a:xfrm>
          <a:prstGeom prst="round1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9A2EC2B-0F89-2EDC-C532-A1A0739E5A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5778" y="1166118"/>
            <a:ext cx="6548483" cy="2850375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07F2B72D-2E9F-84A6-3B35-8A97CE670CC5}"/>
              </a:ext>
            </a:extLst>
          </p:cNvPr>
          <p:cNvSpPr txBox="1"/>
          <p:nvPr/>
        </p:nvSpPr>
        <p:spPr>
          <a:xfrm>
            <a:off x="4576618" y="878593"/>
            <a:ext cx="1746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Bell MT" panose="02020503060305020303" pitchFamily="18" charset="0"/>
              </a:rPr>
              <a:t>Innovation-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54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DB286-3210-5D85-A4DB-90BAA7EBD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29A231B6-C01F-09CC-8D2C-CCAEB90C45C2}"/>
              </a:ext>
            </a:extLst>
          </p:cNvPr>
          <p:cNvSpPr/>
          <p:nvPr/>
        </p:nvSpPr>
        <p:spPr>
          <a:xfrm>
            <a:off x="16479" y="1022556"/>
            <a:ext cx="4953000" cy="4857135"/>
          </a:xfrm>
          <a:prstGeom prst="ellipse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9DBF2C41-5688-C7C1-F673-8DA88B6059C0}"/>
              </a:ext>
            </a:extLst>
          </p:cNvPr>
          <p:cNvSpPr/>
          <p:nvPr/>
        </p:nvSpPr>
        <p:spPr>
          <a:xfrm>
            <a:off x="11209775" y="-55562"/>
            <a:ext cx="982223" cy="982223"/>
          </a:xfrm>
          <a:custGeom>
            <a:avLst/>
            <a:gdLst/>
            <a:ahLst/>
            <a:cxnLst/>
            <a:rect l="l" t="t" r="r" b="b"/>
            <a:pathLst>
              <a:path w="1671072" h="1671072">
                <a:moveTo>
                  <a:pt x="0" y="0"/>
                </a:moveTo>
                <a:lnTo>
                  <a:pt x="1671072" y="0"/>
                </a:lnTo>
                <a:lnTo>
                  <a:pt x="1671072" y="1671072"/>
                </a:lnTo>
                <a:lnTo>
                  <a:pt x="0" y="1671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5D1E4A0-127D-6627-0F87-BFAAF954D2AF}"/>
              </a:ext>
            </a:extLst>
          </p:cNvPr>
          <p:cNvSpPr/>
          <p:nvPr/>
        </p:nvSpPr>
        <p:spPr>
          <a:xfrm>
            <a:off x="133692" y="21601"/>
            <a:ext cx="508000" cy="786860"/>
          </a:xfrm>
          <a:custGeom>
            <a:avLst/>
            <a:gdLst/>
            <a:ahLst/>
            <a:cxnLst/>
            <a:rect l="l" t="t" r="r" b="b"/>
            <a:pathLst>
              <a:path w="913790" h="1415403">
                <a:moveTo>
                  <a:pt x="0" y="0"/>
                </a:moveTo>
                <a:lnTo>
                  <a:pt x="913790" y="0"/>
                </a:lnTo>
                <a:lnTo>
                  <a:pt x="913790" y="1415404"/>
                </a:lnTo>
                <a:lnTo>
                  <a:pt x="0" y="141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AC2863D-82BB-A1D0-B074-479C5E3062B9}"/>
              </a:ext>
            </a:extLst>
          </p:cNvPr>
          <p:cNvGrpSpPr/>
          <p:nvPr/>
        </p:nvGrpSpPr>
        <p:grpSpPr>
          <a:xfrm>
            <a:off x="0" y="6172200"/>
            <a:ext cx="12192000" cy="685800"/>
            <a:chOff x="0" y="0"/>
            <a:chExt cx="4816593" cy="27093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0B32CE2-36CF-0520-1D88-65351D555392}"/>
                </a:ext>
              </a:extLst>
            </p:cNvPr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B859948-425B-A30D-F45F-A284A96A6FEB}"/>
                </a:ext>
              </a:extLst>
            </p:cNvPr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C5B5BBF-2E47-78C6-77CE-9DA89487C1A0}"/>
              </a:ext>
            </a:extLst>
          </p:cNvPr>
          <p:cNvSpPr/>
          <p:nvPr/>
        </p:nvSpPr>
        <p:spPr>
          <a:xfrm>
            <a:off x="3472914" y="1091667"/>
            <a:ext cx="5246173" cy="5246173"/>
          </a:xfrm>
          <a:custGeom>
            <a:avLst/>
            <a:gdLst/>
            <a:ahLst/>
            <a:cxnLst/>
            <a:rect l="l" t="t" r="r" b="b"/>
            <a:pathLst>
              <a:path w="7869260" h="7869260">
                <a:moveTo>
                  <a:pt x="0" y="0"/>
                </a:moveTo>
                <a:lnTo>
                  <a:pt x="7869260" y="0"/>
                </a:lnTo>
                <a:lnTo>
                  <a:pt x="7869260" y="7869260"/>
                </a:lnTo>
                <a:lnTo>
                  <a:pt x="0" y="7869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33A7FD2-FC85-915B-C70F-7609B1561A6D}"/>
              </a:ext>
            </a:extLst>
          </p:cNvPr>
          <p:cNvSpPr txBox="1"/>
          <p:nvPr/>
        </p:nvSpPr>
        <p:spPr>
          <a:xfrm>
            <a:off x="3800989" y="6359963"/>
            <a:ext cx="4590023" cy="30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20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PRISM : Sociothon 2025 </a:t>
            </a:r>
          </a:p>
        </p:txBody>
      </p:sp>
      <p:sp>
        <p:nvSpPr>
          <p:cNvPr id="17409" name="Title 1"/>
          <p:cNvSpPr txBox="1">
            <a:spLocks/>
          </p:cNvSpPr>
          <p:nvPr/>
        </p:nvSpPr>
        <p:spPr>
          <a:xfrm>
            <a:off x="609599" y="183743"/>
            <a:ext cx="10972800" cy="11430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8CA8277-8059-6B11-8E1A-72E8B8908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43795" y="567814"/>
            <a:ext cx="6030864" cy="572237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4280058-BADF-8C9B-0A88-433011259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0090" y="469389"/>
            <a:ext cx="7305428" cy="6093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597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FBFAC-6596-C23F-3B57-B375D3518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FF45FC-2A8A-E015-DBFF-4ABA9681DA8E}"/>
              </a:ext>
            </a:extLst>
          </p:cNvPr>
          <p:cNvSpPr/>
          <p:nvPr/>
        </p:nvSpPr>
        <p:spPr>
          <a:xfrm>
            <a:off x="11209775" y="-55562"/>
            <a:ext cx="982223" cy="982223"/>
          </a:xfrm>
          <a:custGeom>
            <a:avLst/>
            <a:gdLst/>
            <a:ahLst/>
            <a:cxnLst/>
            <a:rect l="l" t="t" r="r" b="b"/>
            <a:pathLst>
              <a:path w="1671072" h="1671072">
                <a:moveTo>
                  <a:pt x="0" y="0"/>
                </a:moveTo>
                <a:lnTo>
                  <a:pt x="1671072" y="0"/>
                </a:lnTo>
                <a:lnTo>
                  <a:pt x="1671072" y="1671072"/>
                </a:lnTo>
                <a:lnTo>
                  <a:pt x="0" y="1671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70D256F-E4E4-9C82-22FD-B4F65E066672}"/>
              </a:ext>
            </a:extLst>
          </p:cNvPr>
          <p:cNvSpPr/>
          <p:nvPr/>
        </p:nvSpPr>
        <p:spPr>
          <a:xfrm>
            <a:off x="133692" y="21601"/>
            <a:ext cx="508000" cy="786860"/>
          </a:xfrm>
          <a:custGeom>
            <a:avLst/>
            <a:gdLst/>
            <a:ahLst/>
            <a:cxnLst/>
            <a:rect l="l" t="t" r="r" b="b"/>
            <a:pathLst>
              <a:path w="913790" h="1415403">
                <a:moveTo>
                  <a:pt x="0" y="0"/>
                </a:moveTo>
                <a:lnTo>
                  <a:pt x="913790" y="0"/>
                </a:lnTo>
                <a:lnTo>
                  <a:pt x="913790" y="1415404"/>
                </a:lnTo>
                <a:lnTo>
                  <a:pt x="0" y="141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1AEABBE-EB30-F53E-C10F-134040E1C2FB}"/>
              </a:ext>
            </a:extLst>
          </p:cNvPr>
          <p:cNvGrpSpPr/>
          <p:nvPr/>
        </p:nvGrpSpPr>
        <p:grpSpPr>
          <a:xfrm>
            <a:off x="0" y="6172200"/>
            <a:ext cx="12192000" cy="685800"/>
            <a:chOff x="0" y="0"/>
            <a:chExt cx="4816593" cy="27093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41F0796-161C-D0CF-A3E7-37D4F6DB4DD8}"/>
                </a:ext>
              </a:extLst>
            </p:cNvPr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A7A92EB-0AA1-B373-EF5A-09052818669C}"/>
                </a:ext>
              </a:extLst>
            </p:cNvPr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EEEFF06-BD55-4B66-7CD8-21E0C75D97BD}"/>
              </a:ext>
            </a:extLst>
          </p:cNvPr>
          <p:cNvSpPr/>
          <p:nvPr/>
        </p:nvSpPr>
        <p:spPr>
          <a:xfrm>
            <a:off x="3472914" y="1093306"/>
            <a:ext cx="5246173" cy="5246173"/>
          </a:xfrm>
          <a:custGeom>
            <a:avLst/>
            <a:gdLst/>
            <a:ahLst/>
            <a:cxnLst/>
            <a:rect l="l" t="t" r="r" b="b"/>
            <a:pathLst>
              <a:path w="7869260" h="7869260">
                <a:moveTo>
                  <a:pt x="0" y="0"/>
                </a:moveTo>
                <a:lnTo>
                  <a:pt x="7869260" y="0"/>
                </a:lnTo>
                <a:lnTo>
                  <a:pt x="7869260" y="7869260"/>
                </a:lnTo>
                <a:lnTo>
                  <a:pt x="0" y="7869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"/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CFC37D2-C703-07AE-5AB4-63273555D821}"/>
              </a:ext>
            </a:extLst>
          </p:cNvPr>
          <p:cNvSpPr txBox="1"/>
          <p:nvPr/>
        </p:nvSpPr>
        <p:spPr>
          <a:xfrm>
            <a:off x="3800989" y="6359963"/>
            <a:ext cx="4590023" cy="30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20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PRISM : Sociothon 2025 </a:t>
            </a:r>
          </a:p>
        </p:txBody>
      </p:sp>
      <p:sp>
        <p:nvSpPr>
          <p:cNvPr id="17409" name="Title 1"/>
          <p:cNvSpPr txBox="1">
            <a:spLocks/>
          </p:cNvSpPr>
          <p:nvPr/>
        </p:nvSpPr>
        <p:spPr>
          <a:xfrm>
            <a:off x="3352799" y="281447"/>
            <a:ext cx="5486400" cy="762000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30" name="Rectangle: Diagonal Corners Rounded 29">
            <a:extLst>
              <a:ext uri="{FF2B5EF4-FFF2-40B4-BE49-F238E27FC236}">
                <a16:creationId xmlns:a16="http://schemas.microsoft.com/office/drawing/2014/main" id="{995D31C9-00C5-9E89-893B-A88C7CDF430A}"/>
              </a:ext>
            </a:extLst>
          </p:cNvPr>
          <p:cNvSpPr/>
          <p:nvPr/>
        </p:nvSpPr>
        <p:spPr>
          <a:xfrm>
            <a:off x="544206" y="1095376"/>
            <a:ext cx="6837106" cy="1509214"/>
          </a:xfrm>
          <a:prstGeom prst="round2DiagRect">
            <a:avLst/>
          </a:prstGeom>
          <a:solidFill>
            <a:srgbClr val="FFFF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4" name="Picture 6" descr="Feasibility - Free miscellaneous icons">
            <a:extLst>
              <a:ext uri="{FF2B5EF4-FFF2-40B4-BE49-F238E27FC236}">
                <a16:creationId xmlns:a16="http://schemas.microsoft.com/office/drawing/2014/main" id="{E5BC2AE9-8316-4FF9-3771-0635C2D01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509" y="1095375"/>
            <a:ext cx="694540" cy="694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C285A1A-9D43-70C4-4BDA-A9CAE3963E64}"/>
              </a:ext>
            </a:extLst>
          </p:cNvPr>
          <p:cNvSpPr txBox="1"/>
          <p:nvPr/>
        </p:nvSpPr>
        <p:spPr>
          <a:xfrm>
            <a:off x="3165350" y="1242270"/>
            <a:ext cx="16126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0CAB69-0BCB-49E2-DF23-0B6BEE2BE33C}"/>
              </a:ext>
            </a:extLst>
          </p:cNvPr>
          <p:cNvSpPr txBox="1"/>
          <p:nvPr/>
        </p:nvSpPr>
        <p:spPr>
          <a:xfrm>
            <a:off x="544206" y="1773592"/>
            <a:ext cx="7005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sz="1600" dirty="0">
                <a:latin typeface="fkGroteskNeue"/>
              </a:rPr>
              <a:t> Proven AI Algorithms: </a:t>
            </a:r>
            <a:r>
              <a:rPr lang="en-IN" sz="1600" b="1" dirty="0">
                <a:latin typeface="fkGroteskNeue"/>
              </a:rPr>
              <a:t>Genetic algorithms </a:t>
            </a:r>
            <a:r>
              <a:rPr lang="en-IN" sz="1600" dirty="0">
                <a:latin typeface="fkGroteskNeue"/>
              </a:rPr>
              <a:t>achieve </a:t>
            </a:r>
            <a:r>
              <a:rPr lang="en-IN" sz="1600" b="1" dirty="0">
                <a:latin typeface="fkGroteskNeue"/>
              </a:rPr>
              <a:t>95% </a:t>
            </a:r>
            <a:r>
              <a:rPr lang="en-IN" sz="1600" dirty="0">
                <a:latin typeface="fkGroteskNeue"/>
              </a:rPr>
              <a:t>optimization success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dirty="0">
                <a:latin typeface="fkGroteskNeue"/>
              </a:rPr>
              <a:t> </a:t>
            </a:r>
            <a:r>
              <a:rPr lang="en-IN" sz="1600" b="1" dirty="0">
                <a:latin typeface="fkGroteskNeue"/>
              </a:rPr>
              <a:t>Modern Stack </a:t>
            </a:r>
            <a:r>
              <a:rPr lang="en-IN" sz="1600" dirty="0">
                <a:latin typeface="fkGroteskNeue"/>
              </a:rPr>
              <a:t>tools support </a:t>
            </a:r>
            <a:r>
              <a:rPr lang="en-IN" sz="1600" b="1" dirty="0">
                <a:latin typeface="fkGroteskNeue"/>
              </a:rPr>
              <a:t>rapid development </a:t>
            </a:r>
            <a:r>
              <a:rPr lang="en-IN" sz="1600" dirty="0">
                <a:latin typeface="fkGroteskNeue"/>
              </a:rPr>
              <a:t>and reliability.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1600" dirty="0">
                <a:latin typeface="fkGroteskNeue"/>
              </a:rPr>
              <a:t> Generates </a:t>
            </a:r>
            <a:r>
              <a:rPr lang="en-IN" sz="1600" b="1" dirty="0">
                <a:latin typeface="fkGroteskNeue"/>
              </a:rPr>
              <a:t>conflict-free</a:t>
            </a:r>
            <a:r>
              <a:rPr lang="en-IN" sz="1600" dirty="0">
                <a:latin typeface="fkGroteskNeue"/>
              </a:rPr>
              <a:t> timetables for </a:t>
            </a:r>
            <a:r>
              <a:rPr lang="en-IN" sz="1600" b="1" dirty="0">
                <a:latin typeface="fkGroteskNeue"/>
              </a:rPr>
              <a:t>multi-divisions</a:t>
            </a:r>
            <a:r>
              <a:rPr lang="en-IN" sz="1600" dirty="0">
                <a:latin typeface="fkGroteskNeue"/>
              </a:rPr>
              <a:t>. </a:t>
            </a:r>
          </a:p>
        </p:txBody>
      </p:sp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3532B321-6C07-C12F-E001-EAF2007B0D70}"/>
              </a:ext>
            </a:extLst>
          </p:cNvPr>
          <p:cNvSpPr/>
          <p:nvPr/>
        </p:nvSpPr>
        <p:spPr>
          <a:xfrm>
            <a:off x="544206" y="2786566"/>
            <a:ext cx="6837106" cy="1523843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52" name="Picture 4" descr="Viability Icon - Free Download Business Icons | IconScout">
            <a:extLst>
              <a:ext uri="{FF2B5EF4-FFF2-40B4-BE49-F238E27FC236}">
                <a16:creationId xmlns:a16="http://schemas.microsoft.com/office/drawing/2014/main" id="{712BEB79-B0CE-E995-7E6B-7CE826629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217" y="2797795"/>
            <a:ext cx="593833" cy="593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04A1740-3B16-6CE5-DC03-C49CF8E20D60}"/>
              </a:ext>
            </a:extLst>
          </p:cNvPr>
          <p:cNvSpPr txBox="1"/>
          <p:nvPr/>
        </p:nvSpPr>
        <p:spPr>
          <a:xfrm>
            <a:off x="3197844" y="2893532"/>
            <a:ext cx="1580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VIABILITY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67EC8F-88BC-EF25-39AB-99E3407516DA}"/>
              </a:ext>
            </a:extLst>
          </p:cNvPr>
          <p:cNvSpPr txBox="1"/>
          <p:nvPr/>
        </p:nvSpPr>
        <p:spPr>
          <a:xfrm>
            <a:off x="544206" y="3424856"/>
            <a:ext cx="70053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600" b="1" dirty="0">
                <a:latin typeface="fkGroteskNeue"/>
              </a:rPr>
              <a:t> 87% </a:t>
            </a:r>
            <a:r>
              <a:rPr lang="en-US" sz="1600" dirty="0">
                <a:latin typeface="fkGroteskNeue"/>
              </a:rPr>
              <a:t>of universities still use the </a:t>
            </a:r>
            <a:r>
              <a:rPr lang="en-IN" sz="1600" dirty="0">
                <a:latin typeface="fkGroteskNeue"/>
              </a:rPr>
              <a:t>traditional way</a:t>
            </a:r>
            <a:r>
              <a:rPr lang="en-US" sz="1600" dirty="0">
                <a:latin typeface="fkGroteskNeue"/>
              </a:rPr>
              <a:t> of spreadsheets for timetabling.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dirty="0">
                <a:latin typeface="fkGroteskNeue"/>
              </a:rPr>
              <a:t> Reduces </a:t>
            </a:r>
            <a:r>
              <a:rPr lang="en-US" sz="1600" b="1" dirty="0">
                <a:latin typeface="fkGroteskNeue"/>
              </a:rPr>
              <a:t>12–15 days </a:t>
            </a:r>
            <a:r>
              <a:rPr lang="en-US" sz="1600" dirty="0">
                <a:latin typeface="fkGroteskNeue"/>
              </a:rPr>
              <a:t>of manual scheduling to</a:t>
            </a:r>
            <a:r>
              <a:rPr lang="en-US" sz="1600" b="1" dirty="0">
                <a:latin typeface="fkGroteskNeue"/>
              </a:rPr>
              <a:t> 2–3 hours</a:t>
            </a:r>
            <a:r>
              <a:rPr lang="en-US" sz="1600" dirty="0">
                <a:latin typeface="fkGroteskNeue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No existing system handles 6-hour limits + multi-division optimization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1600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073427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88FAA45-0022-94F2-9940-ECE3CCCAFC58}"/>
              </a:ext>
            </a:extLst>
          </p:cNvPr>
          <p:cNvSpPr/>
          <p:nvPr/>
        </p:nvSpPr>
        <p:spPr>
          <a:xfrm>
            <a:off x="203200" y="4369050"/>
            <a:ext cx="5394960" cy="41175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9E06084C-99F0-DDAA-65D6-C0634D566025}"/>
              </a:ext>
            </a:extLst>
          </p:cNvPr>
          <p:cNvSpPr/>
          <p:nvPr/>
        </p:nvSpPr>
        <p:spPr>
          <a:xfrm>
            <a:off x="206720" y="4646942"/>
            <a:ext cx="11843767" cy="1625260"/>
          </a:xfrm>
          <a:prstGeom prst="round2Diag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A1608E7-94ED-BFAB-0167-60CA19304340}"/>
              </a:ext>
            </a:extLst>
          </p:cNvPr>
          <p:cNvSpPr/>
          <p:nvPr/>
        </p:nvSpPr>
        <p:spPr>
          <a:xfrm>
            <a:off x="7640320" y="999480"/>
            <a:ext cx="4566784" cy="3500569"/>
          </a:xfrm>
          <a:prstGeom prst="roundRect">
            <a:avLst/>
          </a:pr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defTabSz="457223">
              <a:defRPr/>
            </a:pPr>
            <a:endParaRPr lang="en-US" dirty="0">
              <a:solidFill>
                <a:srgbClr val="C0504D">
                  <a:lumMod val="75000"/>
                </a:srgb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23">
              <a:defRPr/>
            </a:pPr>
            <a:fld id="{677C3CE7-23F7-4828-823C-E0205DF2CF97}" type="slidenum">
              <a:rPr lang="en-US" b="1">
                <a:solidFill>
                  <a:prstClr val="white"/>
                </a:solidFill>
              </a:rPr>
              <a:pPr defTabSz="457223">
                <a:defRPr/>
              </a:pPr>
              <a:t>12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4"/>
            <a:ext cx="3204000" cy="365125"/>
          </a:xfrm>
        </p:spPr>
        <p:txBody>
          <a:bodyPr/>
          <a:lstStyle/>
          <a:p>
            <a:pPr defTabSz="457223"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6317F61B-5EAF-79C0-E046-217ADA1DD6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4960" y="220759"/>
            <a:ext cx="1882485" cy="70148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Copperplate Gothic Bold" panose="020E0705020206020404" pitchFamily="34" charset="0"/>
              </a:rPr>
              <a:t>InnoHex</a:t>
            </a:r>
            <a:endParaRPr lang="en-IN" dirty="0">
              <a:latin typeface="Copperplate Gothic Bold" panose="020E07050202060204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BAA6B65-B619-26D9-45A3-A50CE28AF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6814" y="1067356"/>
            <a:ext cx="3774594" cy="3432692"/>
          </a:xfrm>
          <a:prstGeom prst="rect">
            <a:avLst/>
          </a:prstGeom>
        </p:spPr>
      </p:pic>
      <p:sp>
        <p:nvSpPr>
          <p:cNvPr id="16" name="Rectangle: Diagonal Corners Rounded 15">
            <a:extLst>
              <a:ext uri="{FF2B5EF4-FFF2-40B4-BE49-F238E27FC236}">
                <a16:creationId xmlns:a16="http://schemas.microsoft.com/office/drawing/2014/main" id="{EAB1D95D-E944-19B4-6DE5-F9B101B3D89A}"/>
              </a:ext>
            </a:extLst>
          </p:cNvPr>
          <p:cNvSpPr/>
          <p:nvPr/>
        </p:nvSpPr>
        <p:spPr>
          <a:xfrm>
            <a:off x="8718550" y="1071257"/>
            <a:ext cx="2275840" cy="415903"/>
          </a:xfrm>
          <a:prstGeom prst="round2Diag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3F30CC-5CF9-9D32-8FA1-69305352DBB8}"/>
              </a:ext>
            </a:extLst>
          </p:cNvPr>
          <p:cNvSpPr txBox="1"/>
          <p:nvPr/>
        </p:nvSpPr>
        <p:spPr>
          <a:xfrm>
            <a:off x="7885226" y="1200098"/>
            <a:ext cx="6121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Bell MT" panose="02020503060305020303" pitchFamily="18" charset="0"/>
              </a:rPr>
              <a:t>Market Validation &amp; Business Potential</a:t>
            </a:r>
          </a:p>
          <a:p>
            <a:endParaRPr lang="en-IN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  <p:pic>
        <p:nvPicPr>
          <p:cNvPr id="2050" name="Picture 2" descr="Challenge - Free business and finance icons">
            <a:extLst>
              <a:ext uri="{FF2B5EF4-FFF2-40B4-BE49-F238E27FC236}">
                <a16:creationId xmlns:a16="http://schemas.microsoft.com/office/drawing/2014/main" id="{39192CEE-6B62-B472-F2FD-3E9EAE416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2550" y="4771922"/>
            <a:ext cx="1375300" cy="137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01CAE72-C9BF-51BB-B760-493C56255DB3}"/>
              </a:ext>
            </a:extLst>
          </p:cNvPr>
          <p:cNvSpPr txBox="1"/>
          <p:nvPr/>
        </p:nvSpPr>
        <p:spPr>
          <a:xfrm>
            <a:off x="279599" y="4320030"/>
            <a:ext cx="5889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AND STRATEGIES </a:t>
            </a:r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72256EB-0B52-3BB4-A1BC-5E91CE801FD1}"/>
              </a:ext>
            </a:extLst>
          </p:cNvPr>
          <p:cNvSpPr txBox="1"/>
          <p:nvPr/>
        </p:nvSpPr>
        <p:spPr>
          <a:xfrm>
            <a:off x="279598" y="4719120"/>
            <a:ext cx="7005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1. Complex Input Requirements</a:t>
            </a:r>
            <a:r>
              <a:rPr lang="en-US" sz="1600" dirty="0"/>
              <a:t>: Multiple configuration </a:t>
            </a:r>
          </a:p>
          <a:p>
            <a:r>
              <a:rPr lang="en-US" sz="1600" dirty="0"/>
              <a:t>parameters needed</a:t>
            </a:r>
            <a:endParaRPr lang="en-IN" sz="1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BB1868-FF16-AB64-47C5-929992D1C5AA}"/>
              </a:ext>
            </a:extLst>
          </p:cNvPr>
          <p:cNvSpPr txBox="1"/>
          <p:nvPr/>
        </p:nvSpPr>
        <p:spPr>
          <a:xfrm>
            <a:off x="279598" y="5299092"/>
            <a:ext cx="7005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2. Algorithm Complexity</a:t>
            </a:r>
            <a:r>
              <a:rPr lang="en-US" sz="1600" dirty="0"/>
              <a:t>: Advanced constraint satisfaction </a:t>
            </a:r>
          </a:p>
          <a:p>
            <a:r>
              <a:rPr lang="en-US" sz="1600" dirty="0"/>
              <a:t>requirements</a:t>
            </a:r>
            <a:endParaRPr lang="en-IN" sz="16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92F66A-EDE7-F882-85F6-986D24AFC405}"/>
              </a:ext>
            </a:extLst>
          </p:cNvPr>
          <p:cNvSpPr txBox="1"/>
          <p:nvPr/>
        </p:nvSpPr>
        <p:spPr>
          <a:xfrm>
            <a:off x="279598" y="5784141"/>
            <a:ext cx="7005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3. Performance Scaling</a:t>
            </a:r>
            <a:r>
              <a:rPr lang="en-US" sz="1600" dirty="0"/>
              <a:t>: Large datasets with multiple </a:t>
            </a:r>
          </a:p>
          <a:p>
            <a:r>
              <a:rPr lang="en-US" sz="1600" dirty="0"/>
              <a:t>constraints</a:t>
            </a:r>
            <a:endParaRPr lang="en-IN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9EC9DD-B95D-DCFB-83B8-2579FE19F7D6}"/>
              </a:ext>
            </a:extLst>
          </p:cNvPr>
          <p:cNvSpPr txBox="1"/>
          <p:nvPr/>
        </p:nvSpPr>
        <p:spPr>
          <a:xfrm>
            <a:off x="6657340" y="5666861"/>
            <a:ext cx="53931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Strategy</a:t>
            </a:r>
            <a:r>
              <a:rPr lang="en-US" sz="1600" dirty="0"/>
              <a:t>: Parallel processing and cloud auto-scaling for peak loads</a:t>
            </a:r>
            <a:endParaRPr lang="en-IN" sz="16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E8019F5-F26B-B1AF-280B-3CD1875ED5C9}"/>
              </a:ext>
            </a:extLst>
          </p:cNvPr>
          <p:cNvSpPr txBox="1"/>
          <p:nvPr/>
        </p:nvSpPr>
        <p:spPr>
          <a:xfrm>
            <a:off x="6647690" y="5368385"/>
            <a:ext cx="7005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Strategy</a:t>
            </a:r>
            <a:r>
              <a:rPr lang="en-US" sz="1600" dirty="0"/>
              <a:t>: Modular algorithm design with incremental optimization</a:t>
            </a:r>
            <a:endParaRPr lang="en-IN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273285-9BFB-AB98-4198-EA365632F82E}"/>
              </a:ext>
            </a:extLst>
          </p:cNvPr>
          <p:cNvSpPr txBox="1"/>
          <p:nvPr/>
        </p:nvSpPr>
        <p:spPr>
          <a:xfrm>
            <a:off x="6647690" y="4798504"/>
            <a:ext cx="7005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Strategy: </a:t>
            </a:r>
            <a:r>
              <a:rPr lang="en-US" sz="1600" dirty="0"/>
              <a:t>Guided setup wizard with pre-filled templates </a:t>
            </a:r>
          </a:p>
          <a:p>
            <a:r>
              <a:rPr lang="en-US" sz="1600" dirty="0"/>
              <a:t>and validation</a:t>
            </a:r>
            <a:endParaRPr lang="en-IN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575DCA-6E05-47AC-F427-3794D0D87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8550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656DA-A89C-682C-E86F-ADBEF1DE7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96CA244-418D-485A-716E-1B76AD5AD082}"/>
              </a:ext>
            </a:extLst>
          </p:cNvPr>
          <p:cNvSpPr/>
          <p:nvPr/>
        </p:nvSpPr>
        <p:spPr>
          <a:xfrm>
            <a:off x="10949176" y="122070"/>
            <a:ext cx="1114048" cy="1114048"/>
          </a:xfrm>
          <a:custGeom>
            <a:avLst/>
            <a:gdLst/>
            <a:ahLst/>
            <a:cxnLst/>
            <a:rect l="l" t="t" r="r" b="b"/>
            <a:pathLst>
              <a:path w="1671072" h="1671072">
                <a:moveTo>
                  <a:pt x="0" y="0"/>
                </a:moveTo>
                <a:lnTo>
                  <a:pt x="1671072" y="0"/>
                </a:lnTo>
                <a:lnTo>
                  <a:pt x="1671072" y="1671072"/>
                </a:lnTo>
                <a:lnTo>
                  <a:pt x="0" y="1671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7C8F474-23C8-62DE-1352-7E41622B5216}"/>
              </a:ext>
            </a:extLst>
          </p:cNvPr>
          <p:cNvSpPr/>
          <p:nvPr/>
        </p:nvSpPr>
        <p:spPr>
          <a:xfrm>
            <a:off x="315166" y="207293"/>
            <a:ext cx="609193" cy="943602"/>
          </a:xfrm>
          <a:custGeom>
            <a:avLst/>
            <a:gdLst/>
            <a:ahLst/>
            <a:cxnLst/>
            <a:rect l="l" t="t" r="r" b="b"/>
            <a:pathLst>
              <a:path w="913790" h="1415403">
                <a:moveTo>
                  <a:pt x="0" y="0"/>
                </a:moveTo>
                <a:lnTo>
                  <a:pt x="913790" y="0"/>
                </a:lnTo>
                <a:lnTo>
                  <a:pt x="913790" y="1415404"/>
                </a:lnTo>
                <a:lnTo>
                  <a:pt x="0" y="14154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FF48058-0CF2-3361-B3EA-C1B447F36909}"/>
              </a:ext>
            </a:extLst>
          </p:cNvPr>
          <p:cNvGrpSpPr/>
          <p:nvPr/>
        </p:nvGrpSpPr>
        <p:grpSpPr>
          <a:xfrm>
            <a:off x="0" y="6172200"/>
            <a:ext cx="12192000" cy="685800"/>
            <a:chOff x="0" y="0"/>
            <a:chExt cx="4816593" cy="27093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4E466A8-856C-EB44-B97B-F2E3CE46ADA7}"/>
                </a:ext>
              </a:extLst>
            </p:cNvPr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3FC68FB-C034-95CE-15FE-335E3CE978F3}"/>
                </a:ext>
              </a:extLst>
            </p:cNvPr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F49BBCC6-6116-1493-1CED-11B70E8FEEC8}"/>
              </a:ext>
            </a:extLst>
          </p:cNvPr>
          <p:cNvSpPr txBox="1"/>
          <p:nvPr/>
        </p:nvSpPr>
        <p:spPr>
          <a:xfrm>
            <a:off x="3800989" y="6359963"/>
            <a:ext cx="4590023" cy="30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0"/>
              </a:lnSpc>
            </a:pPr>
            <a:r>
              <a:rPr lang="en-US" sz="207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PRISM : Sociothon 2025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B8DAD72-0925-2FAA-617D-82B34DFD29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192" y="1025318"/>
            <a:ext cx="6597054" cy="5122865"/>
          </a:xfrm>
          <a:prstGeom prst="rect">
            <a:avLst/>
          </a:prstGeom>
        </p:spPr>
      </p:pic>
      <p:pic>
        <p:nvPicPr>
          <p:cNvPr id="4098" name="Picture 2" descr="Competition - Free sports and competition icons">
            <a:extLst>
              <a:ext uri="{FF2B5EF4-FFF2-40B4-BE49-F238E27FC236}">
                <a16:creationId xmlns:a16="http://schemas.microsoft.com/office/drawing/2014/main" id="{CF0B6479-F44C-8CF7-656B-072633A79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56" y="1623172"/>
            <a:ext cx="885197" cy="88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FCBEC1-C1BF-9223-3C7A-AB9B2F0C6A65}"/>
              </a:ext>
            </a:extLst>
          </p:cNvPr>
          <p:cNvSpPr txBox="1"/>
          <p:nvPr/>
        </p:nvSpPr>
        <p:spPr>
          <a:xfrm>
            <a:off x="1036202" y="1397589"/>
            <a:ext cx="609407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dirty="0">
                <a:latin typeface="fkGroteskNeue"/>
              </a:rPr>
              <a:t>Competitor Links: </a:t>
            </a:r>
            <a:endParaRPr lang="en-US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fkGroteskNeue"/>
              </a:rPr>
              <a:t>UniTime</a:t>
            </a:r>
            <a:r>
              <a:rPr lang="en-US" b="1" dirty="0">
                <a:latin typeface="fkGroteskNeue"/>
              </a:rPr>
              <a:t>:</a:t>
            </a:r>
            <a:r>
              <a:rPr lang="en-US" dirty="0">
                <a:latin typeface="fkGroteskNeue"/>
              </a:rPr>
              <a:t> </a:t>
            </a:r>
            <a:r>
              <a:rPr lang="en-US" dirty="0">
                <a:latin typeface="fkGroteskNeue"/>
                <a:hlinkClick r:id="rId6"/>
              </a:rPr>
              <a:t>https://www.unitime.org</a:t>
            </a:r>
            <a:r>
              <a:rPr lang="en-US" dirty="0">
                <a:latin typeface="fkGroteskNeue"/>
              </a:rPr>
              <a:t> 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latin typeface="fkGroteskNeue"/>
              </a:rPr>
              <a:t>FET Software:</a:t>
            </a:r>
            <a:r>
              <a:rPr lang="en-US" dirty="0">
                <a:latin typeface="fkGroteskNeue"/>
              </a:rPr>
              <a:t> </a:t>
            </a:r>
            <a:r>
              <a:rPr lang="en-US" dirty="0">
                <a:latin typeface="fkGroteskNeue"/>
                <a:hlinkClick r:id="rId7"/>
              </a:rPr>
              <a:t>https://lalescu.ro/liviu/fet/</a:t>
            </a:r>
            <a:endParaRPr lang="en-US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 err="1">
                <a:latin typeface="fkGroteskNeue"/>
              </a:rPr>
              <a:t>SEAtS</a:t>
            </a:r>
            <a:r>
              <a:rPr lang="en-US" b="1" dirty="0">
                <a:latin typeface="fkGroteskNeue"/>
              </a:rPr>
              <a:t> ONE:</a:t>
            </a:r>
            <a:r>
              <a:rPr lang="en-US" dirty="0">
                <a:latin typeface="fkGroteskNeue"/>
              </a:rPr>
              <a:t> </a:t>
            </a:r>
            <a:r>
              <a:rPr lang="en-US" dirty="0">
                <a:latin typeface="fkGroteskNeue"/>
                <a:hlinkClick r:id="rId8"/>
              </a:rPr>
              <a:t>https://seatssoftware.com</a:t>
            </a:r>
            <a:endParaRPr lang="en-US" dirty="0">
              <a:latin typeface="fkGroteskNeue"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4112" name="Picture 16" descr="Download Free Research paper Icons in PNG &amp; SVG">
            <a:extLst>
              <a:ext uri="{FF2B5EF4-FFF2-40B4-BE49-F238E27FC236}">
                <a16:creationId xmlns:a16="http://schemas.microsoft.com/office/drawing/2014/main" id="{A5EEA37D-57C3-3B01-B371-F10A618E1F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004" y="4020333"/>
            <a:ext cx="885197" cy="885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C4A99AB-F262-7A84-9FF2-5BA949DE7DE7}"/>
              </a:ext>
            </a:extLst>
          </p:cNvPr>
          <p:cNvSpPr txBox="1"/>
          <p:nvPr/>
        </p:nvSpPr>
        <p:spPr>
          <a:xfrm>
            <a:off x="919012" y="3149752"/>
            <a:ext cx="5063658" cy="2657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67" b="1" dirty="0">
                <a:latin typeface="fkGroteskNeue"/>
              </a:rPr>
              <a:t>Research Foundation Citations:</a:t>
            </a:r>
          </a:p>
          <a:p>
            <a:pPr algn="l">
              <a:buNone/>
            </a:pPr>
            <a:endParaRPr lang="en-US" sz="1500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1" dirty="0">
                <a:latin typeface="fkGroteskNeue"/>
              </a:rPr>
              <a:t>"Educational Timetabling: Problems, Benchmarks, and State-  </a:t>
            </a:r>
          </a:p>
          <a:p>
            <a:pPr algn="l"/>
            <a:r>
              <a:rPr lang="en-US" sz="1500" b="1" dirty="0">
                <a:latin typeface="fkGroteskNeue"/>
              </a:rPr>
              <a:t>   of-the-Art Results"</a:t>
            </a:r>
            <a:r>
              <a:rPr lang="en-US" sz="1500" dirty="0">
                <a:latin typeface="fkGroteskNeue"/>
              </a:rPr>
              <a:t> (2023) -   </a:t>
            </a:r>
            <a:r>
              <a:rPr lang="en-US" sz="1500" dirty="0">
                <a:latin typeface="fkGroteskNeue"/>
                <a:hlinkClick r:id="rId10"/>
              </a:rPr>
              <a:t>https://doi.org/10.1016/j.ejor.2022.07.018</a:t>
            </a:r>
            <a:endParaRPr lang="en-US" sz="1500" dirty="0"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1" dirty="0">
                <a:latin typeface="fkGroteskNeue"/>
              </a:rPr>
              <a:t>"Genetic Algorithm for University Course Timetabling </a:t>
            </a:r>
          </a:p>
          <a:p>
            <a:pPr algn="l"/>
            <a:r>
              <a:rPr lang="en-US" sz="1500" b="1" dirty="0">
                <a:latin typeface="fkGroteskNeue"/>
              </a:rPr>
              <a:t>    Problem"</a:t>
            </a:r>
            <a:r>
              <a:rPr lang="en-US" sz="1500" dirty="0">
                <a:latin typeface="fkGroteskNeue"/>
              </a:rPr>
              <a:t> (2017) - University of Mississippi Research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1" dirty="0">
                <a:latin typeface="fkGroteskNeue"/>
              </a:rPr>
              <a:t>"System of Automated Timetabling"</a:t>
            </a:r>
            <a:r>
              <a:rPr lang="en-US" sz="1500" dirty="0">
                <a:latin typeface="fkGroteskNeue"/>
              </a:rPr>
              <a:t> (2003) - Silesian </a:t>
            </a:r>
          </a:p>
          <a:p>
            <a:pPr algn="l"/>
            <a:r>
              <a:rPr lang="en-US" sz="1500" dirty="0">
                <a:latin typeface="fkGroteskNeue"/>
              </a:rPr>
              <a:t>   University of Technology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500" b="1" dirty="0">
                <a:latin typeface="fkGroteskNeue"/>
              </a:rPr>
              <a:t>"Timetable Management in Educational Institutions"</a:t>
            </a:r>
            <a:r>
              <a:rPr lang="en-US" sz="1500" dirty="0">
                <a:latin typeface="fkGroteskNeue"/>
              </a:rPr>
              <a:t> (2025) –  IRJMETS Journal </a:t>
            </a:r>
          </a:p>
        </p:txBody>
      </p:sp>
      <p:sp>
        <p:nvSpPr>
          <p:cNvPr id="17409" name="Title 1"/>
          <p:cNvSpPr txBox="1">
            <a:spLocks/>
          </p:cNvSpPr>
          <p:nvPr/>
        </p:nvSpPr>
        <p:spPr>
          <a:xfrm>
            <a:off x="2979992" y="196793"/>
            <a:ext cx="5486400" cy="762000"/>
          </a:xfrm>
          <a:prstGeom prst="rect">
            <a:avLst/>
          </a:prstGeom>
        </p:spPr>
        <p:txBody>
          <a:bodyPr>
            <a:normAutofit fontScale="7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533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8255</TotalTime>
  <Words>1163</Words>
  <Application>Microsoft Office PowerPoint</Application>
  <PresentationFormat>Widescreen</PresentationFormat>
  <Paragraphs>172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ＭＳ Ｐゴシック</vt:lpstr>
      <vt:lpstr>Arial</vt:lpstr>
      <vt:lpstr>Arial Bold</vt:lpstr>
      <vt:lpstr>Azonix</vt:lpstr>
      <vt:lpstr>Bell MT</vt:lpstr>
      <vt:lpstr>Calibri</vt:lpstr>
      <vt:lpstr>Canva Sans</vt:lpstr>
      <vt:lpstr>Copperplate Gothic Bold</vt:lpstr>
      <vt:lpstr>fkGroteskNeue</vt:lpstr>
      <vt:lpstr>Garamond</vt:lpstr>
      <vt:lpstr>Garamond Bold</vt:lpstr>
      <vt:lpstr>Times New Roman</vt:lpstr>
      <vt:lpstr>Times New Roman MT Bold</vt:lpstr>
      <vt:lpstr>TradeGothic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SURAJ YADAV</cp:lastModifiedBy>
  <cp:revision>160</cp:revision>
  <dcterms:created xsi:type="dcterms:W3CDTF">2013-12-12T18:46:50Z</dcterms:created>
  <dcterms:modified xsi:type="dcterms:W3CDTF">2025-10-08T12:40:02Z</dcterms:modified>
  <cp:category/>
</cp:coreProperties>
</file>
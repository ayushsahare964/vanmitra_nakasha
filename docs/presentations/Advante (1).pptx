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ns Bold" charset="1" panose="00000000000000000000"/>
      <p:regular r:id="rId12"/>
    </p:embeddedFont>
    <p:embeddedFont>
      <p:font typeface="Open Sans Semi-Bold" charset="1" panose="00000000000000000000"/>
      <p:regular r:id="rId13"/>
    </p:embeddedFont>
    <p:embeddedFont>
      <p:font typeface="Open Sans Medium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png" Type="http://schemas.openxmlformats.org/officeDocument/2006/relationships/image"/><Relationship Id="rId12" Target="../media/image27.png" Type="http://schemas.openxmlformats.org/officeDocument/2006/relationships/image"/><Relationship Id="rId13" Target="../media/image28.png" Type="http://schemas.openxmlformats.org/officeDocument/2006/relationships/image"/><Relationship Id="rId14" Target="../media/image29.png" Type="http://schemas.openxmlformats.org/officeDocument/2006/relationships/image"/><Relationship Id="rId15" Target="../media/image30.png" Type="http://schemas.openxmlformats.org/officeDocument/2006/relationships/image"/><Relationship Id="rId16" Target="../media/image31.png" Type="http://schemas.openxmlformats.org/officeDocument/2006/relationships/image"/><Relationship Id="rId17" Target="../media/image32.png" Type="http://schemas.openxmlformats.org/officeDocument/2006/relationships/image"/><Relationship Id="rId18" Target="../media/image33.png" Type="http://schemas.openxmlformats.org/officeDocument/2006/relationships/image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png" Type="http://schemas.openxmlformats.org/officeDocument/2006/relationships/image"/><Relationship Id="rId12" Target="../media/image44.png" Type="http://schemas.openxmlformats.org/officeDocument/2006/relationships/image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png" Type="http://schemas.openxmlformats.org/officeDocument/2006/relationships/image"/><Relationship Id="rId12" Target="../media/image61.png" Type="http://schemas.openxmlformats.org/officeDocument/2006/relationships/image"/><Relationship Id="rId13" Target="../media/image62.png" Type="http://schemas.openxmlformats.org/officeDocument/2006/relationships/image"/><Relationship Id="rId14" Target="../media/image63.png" Type="http://schemas.openxmlformats.org/officeDocument/2006/relationships/image"/><Relationship Id="rId15" Target="../media/image64.png" Type="http://schemas.openxmlformats.org/officeDocument/2006/relationships/image"/><Relationship Id="rId16" Target="../media/image65.png" Type="http://schemas.openxmlformats.org/officeDocument/2006/relationships/image"/><Relationship Id="rId17" Target="../media/image66.png" Type="http://schemas.openxmlformats.org/officeDocument/2006/relationships/image"/><Relationship Id="rId18" Target="../media/image67.jpeg" Type="http://schemas.openxmlformats.org/officeDocument/2006/relationships/image"/><Relationship Id="rId19" Target="../media/VAHUIEeaRCk.mp4" Type="http://schemas.openxmlformats.org/officeDocument/2006/relationships/video"/><Relationship Id="rId2" Target="../media/image51.png" Type="http://schemas.openxmlformats.org/officeDocument/2006/relationships/image"/><Relationship Id="rId20" Target="../media/VAHUIEeaRCk.mp4" Type="http://schemas.microsoft.com/office/2007/relationships/media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6.png" Type="http://schemas.openxmlformats.org/officeDocument/2006/relationships/image"/><Relationship Id="rId11" Target="../media/image77.png" Type="http://schemas.openxmlformats.org/officeDocument/2006/relationships/image"/><Relationship Id="rId12" Target="../media/image78.png" Type="http://schemas.openxmlformats.org/officeDocument/2006/relationships/image"/><Relationship Id="rId13" Target="../media/image79.png" Type="http://schemas.openxmlformats.org/officeDocument/2006/relationships/image"/><Relationship Id="rId14" Target="../media/image80.png" Type="http://schemas.openxmlformats.org/officeDocument/2006/relationships/image"/><Relationship Id="rId15" Target="../media/image81.png" Type="http://schemas.openxmlformats.org/officeDocument/2006/relationships/image"/><Relationship Id="rId16" Target="../media/image82.png" Type="http://schemas.openxmlformats.org/officeDocument/2006/relationships/image"/><Relationship Id="rId17" Target="../media/image83.png" Type="http://schemas.openxmlformats.org/officeDocument/2006/relationships/image"/><Relationship Id="rId18" Target="../media/image84.png" Type="http://schemas.openxmlformats.org/officeDocument/2006/relationships/image"/><Relationship Id="rId19" Target="../media/image85.png" Type="http://schemas.openxmlformats.org/officeDocument/2006/relationships/image"/><Relationship Id="rId2" Target="../media/image68.png" Type="http://schemas.openxmlformats.org/officeDocument/2006/relationships/image"/><Relationship Id="rId20" Target="../media/image86.png" Type="http://schemas.openxmlformats.org/officeDocument/2006/relationships/image"/><Relationship Id="rId21" Target="../media/image87.png" Type="http://schemas.openxmlformats.org/officeDocument/2006/relationships/image"/><Relationship Id="rId22" Target="../media/image88.png" Type="http://schemas.openxmlformats.org/officeDocument/2006/relationships/image"/><Relationship Id="rId23" Target="../media/image89.png" Type="http://schemas.openxmlformats.org/officeDocument/2006/relationships/image"/><Relationship Id="rId24" Target="../media/image90.png" Type="http://schemas.openxmlformats.org/officeDocument/2006/relationships/image"/><Relationship Id="rId25" Target="../media/image91.png" Type="http://schemas.openxmlformats.org/officeDocument/2006/relationships/image"/><Relationship Id="rId26" Target="../media/image92.png" Type="http://schemas.openxmlformats.org/officeDocument/2006/relationships/image"/><Relationship Id="rId27" Target="../media/image93.png" Type="http://schemas.openxmlformats.org/officeDocument/2006/relationships/image"/><Relationship Id="rId28" Target="../media/image94.png" Type="http://schemas.openxmlformats.org/officeDocument/2006/relationships/image"/><Relationship Id="rId29" Target="../media/image95.png" Type="http://schemas.openxmlformats.org/officeDocument/2006/relationships/image"/><Relationship Id="rId3" Target="../media/image69.png" Type="http://schemas.openxmlformats.org/officeDocument/2006/relationships/image"/><Relationship Id="rId30" Target="../media/image96.png" Type="http://schemas.openxmlformats.org/officeDocument/2006/relationships/image"/><Relationship Id="rId31" Target="../media/image97.png" Type="http://schemas.openxmlformats.org/officeDocument/2006/relationships/image"/><Relationship Id="rId32" Target="../media/image98.png" Type="http://schemas.openxmlformats.org/officeDocument/2006/relationships/image"/><Relationship Id="rId33" Target="../media/image99.png" Type="http://schemas.openxmlformats.org/officeDocument/2006/relationships/image"/><Relationship Id="rId34" Target="../media/image100.png" Type="http://schemas.openxmlformats.org/officeDocument/2006/relationships/image"/><Relationship Id="rId4" Target="../media/image70.png" Type="http://schemas.openxmlformats.org/officeDocument/2006/relationships/image"/><Relationship Id="rId5" Target="../media/image71.png" Type="http://schemas.openxmlformats.org/officeDocument/2006/relationships/image"/><Relationship Id="rId6" Target="../media/image72.png" Type="http://schemas.openxmlformats.org/officeDocument/2006/relationships/image"/><Relationship Id="rId7" Target="../media/image73.png" Type="http://schemas.openxmlformats.org/officeDocument/2006/relationships/image"/><Relationship Id="rId8" Target="../media/image74.png" Type="http://schemas.openxmlformats.org/officeDocument/2006/relationships/image"/><Relationship Id="rId9" Target="../media/image7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4373225" cy="1714500"/>
          </a:xfrm>
          <a:custGeom>
            <a:avLst/>
            <a:gdLst/>
            <a:ahLst/>
            <a:cxnLst/>
            <a:rect r="r" b="b" t="t" l="l"/>
            <a:pathLst>
              <a:path h="1714500" w="14373225">
                <a:moveTo>
                  <a:pt x="0" y="0"/>
                </a:moveTo>
                <a:lnTo>
                  <a:pt x="14373225" y="0"/>
                </a:lnTo>
                <a:lnTo>
                  <a:pt x="143732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9550" y="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96925" y="0"/>
            <a:ext cx="4791075" cy="1714500"/>
          </a:xfrm>
          <a:custGeom>
            <a:avLst/>
            <a:gdLst/>
            <a:ahLst/>
            <a:cxnLst/>
            <a:rect r="r" b="b" t="t" l="l"/>
            <a:pathLst>
              <a:path h="1714500" w="4791075">
                <a:moveTo>
                  <a:pt x="0" y="0"/>
                </a:moveTo>
                <a:lnTo>
                  <a:pt x="4791075" y="0"/>
                </a:lnTo>
                <a:lnTo>
                  <a:pt x="47910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82775" y="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1495425"/>
            <a:ext cx="18288000" cy="219075"/>
          </a:xfrm>
          <a:custGeom>
            <a:avLst/>
            <a:gdLst/>
            <a:ahLst/>
            <a:cxnLst/>
            <a:rect r="r" b="b" t="t" l="l"/>
            <a:pathLst>
              <a:path h="219075" w="18288000">
                <a:moveTo>
                  <a:pt x="0" y="0"/>
                </a:moveTo>
                <a:lnTo>
                  <a:pt x="18288000" y="0"/>
                </a:lnTo>
                <a:lnTo>
                  <a:pt x="18288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97413" y="4349725"/>
            <a:ext cx="4612869" cy="133846"/>
          </a:xfrm>
          <a:custGeom>
            <a:avLst/>
            <a:gdLst/>
            <a:ahLst/>
            <a:cxnLst/>
            <a:rect r="r" b="b" t="t" l="l"/>
            <a:pathLst>
              <a:path h="133846" w="4612869">
                <a:moveTo>
                  <a:pt x="0" y="0"/>
                </a:moveTo>
                <a:lnTo>
                  <a:pt x="4612869" y="0"/>
                </a:lnTo>
                <a:lnTo>
                  <a:pt x="4612869" y="133846"/>
                </a:lnTo>
                <a:lnTo>
                  <a:pt x="0" y="1338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65996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7700" y="4553731"/>
            <a:ext cx="5324923" cy="1052601"/>
          </a:xfrm>
          <a:custGeom>
            <a:avLst/>
            <a:gdLst/>
            <a:ahLst/>
            <a:cxnLst/>
            <a:rect r="r" b="b" t="t" l="l"/>
            <a:pathLst>
              <a:path h="1052601" w="5324923">
                <a:moveTo>
                  <a:pt x="0" y="0"/>
                </a:moveTo>
                <a:lnTo>
                  <a:pt x="5324923" y="0"/>
                </a:lnTo>
                <a:lnTo>
                  <a:pt x="5324923" y="1052601"/>
                </a:lnTo>
                <a:lnTo>
                  <a:pt x="0" y="10526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7700" y="5250305"/>
            <a:ext cx="5324923" cy="1052601"/>
          </a:xfrm>
          <a:custGeom>
            <a:avLst/>
            <a:gdLst/>
            <a:ahLst/>
            <a:cxnLst/>
            <a:rect r="r" b="b" t="t" l="l"/>
            <a:pathLst>
              <a:path h="1052601" w="5324923">
                <a:moveTo>
                  <a:pt x="0" y="0"/>
                </a:moveTo>
                <a:lnTo>
                  <a:pt x="5324923" y="0"/>
                </a:lnTo>
                <a:lnTo>
                  <a:pt x="5324923" y="1052601"/>
                </a:lnTo>
                <a:lnTo>
                  <a:pt x="0" y="1052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7700" y="6643453"/>
            <a:ext cx="14163675" cy="356027"/>
          </a:xfrm>
          <a:custGeom>
            <a:avLst/>
            <a:gdLst/>
            <a:ahLst/>
            <a:cxnLst/>
            <a:rect r="r" b="b" t="t" l="l"/>
            <a:pathLst>
              <a:path h="356027" w="14163675">
                <a:moveTo>
                  <a:pt x="0" y="0"/>
                </a:moveTo>
                <a:lnTo>
                  <a:pt x="14163675" y="0"/>
                </a:lnTo>
                <a:lnTo>
                  <a:pt x="14163675" y="356027"/>
                </a:lnTo>
                <a:lnTo>
                  <a:pt x="0" y="3560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47700" y="6643453"/>
            <a:ext cx="5324923" cy="1052601"/>
          </a:xfrm>
          <a:custGeom>
            <a:avLst/>
            <a:gdLst/>
            <a:ahLst/>
            <a:cxnLst/>
            <a:rect r="r" b="b" t="t" l="l"/>
            <a:pathLst>
              <a:path h="1052601" w="5324923">
                <a:moveTo>
                  <a:pt x="0" y="0"/>
                </a:moveTo>
                <a:lnTo>
                  <a:pt x="5324923" y="0"/>
                </a:lnTo>
                <a:lnTo>
                  <a:pt x="5324923" y="1052601"/>
                </a:lnTo>
                <a:lnTo>
                  <a:pt x="0" y="10526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91962" y="7075459"/>
            <a:ext cx="1129379" cy="29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25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82211" y="7089094"/>
            <a:ext cx="3388137" cy="33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2818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Automation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47700" y="7340027"/>
            <a:ext cx="13807648" cy="356027"/>
          </a:xfrm>
          <a:custGeom>
            <a:avLst/>
            <a:gdLst/>
            <a:ahLst/>
            <a:cxnLst/>
            <a:rect r="r" b="b" t="t" l="l"/>
            <a:pathLst>
              <a:path h="356027" w="13807648">
                <a:moveTo>
                  <a:pt x="0" y="0"/>
                </a:moveTo>
                <a:lnTo>
                  <a:pt x="13807648" y="0"/>
                </a:lnTo>
                <a:lnTo>
                  <a:pt x="13807648" y="356027"/>
                </a:lnTo>
                <a:lnTo>
                  <a:pt x="0" y="3560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7700" y="7680575"/>
            <a:ext cx="5324923" cy="712054"/>
          </a:xfrm>
          <a:custGeom>
            <a:avLst/>
            <a:gdLst/>
            <a:ahLst/>
            <a:cxnLst/>
            <a:rect r="r" b="b" t="t" l="l"/>
            <a:pathLst>
              <a:path h="712054" w="5324923">
                <a:moveTo>
                  <a:pt x="0" y="0"/>
                </a:moveTo>
                <a:lnTo>
                  <a:pt x="5324923" y="0"/>
                </a:lnTo>
                <a:lnTo>
                  <a:pt x="5324923" y="712053"/>
                </a:lnTo>
                <a:lnTo>
                  <a:pt x="0" y="71205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47700" y="8377149"/>
            <a:ext cx="13467101" cy="356027"/>
          </a:xfrm>
          <a:custGeom>
            <a:avLst/>
            <a:gdLst/>
            <a:ahLst/>
            <a:cxnLst/>
            <a:rect r="r" b="b" t="t" l="l"/>
            <a:pathLst>
              <a:path h="356027" w="13467101">
                <a:moveTo>
                  <a:pt x="0" y="0"/>
                </a:moveTo>
                <a:lnTo>
                  <a:pt x="13467101" y="0"/>
                </a:lnTo>
                <a:lnTo>
                  <a:pt x="13467101" y="356027"/>
                </a:lnTo>
                <a:lnTo>
                  <a:pt x="0" y="35602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47700" y="8377149"/>
            <a:ext cx="5324923" cy="1052601"/>
          </a:xfrm>
          <a:custGeom>
            <a:avLst/>
            <a:gdLst/>
            <a:ahLst/>
            <a:cxnLst/>
            <a:rect r="r" b="b" t="t" l="l"/>
            <a:pathLst>
              <a:path h="1052601" w="5324923">
                <a:moveTo>
                  <a:pt x="0" y="0"/>
                </a:moveTo>
                <a:lnTo>
                  <a:pt x="5324923" y="0"/>
                </a:lnTo>
                <a:lnTo>
                  <a:pt x="5324923" y="1052601"/>
                </a:lnTo>
                <a:lnTo>
                  <a:pt x="0" y="105260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783672" y="2565620"/>
            <a:ext cx="5504328" cy="5891514"/>
          </a:xfrm>
          <a:custGeom>
            <a:avLst/>
            <a:gdLst/>
            <a:ahLst/>
            <a:cxnLst/>
            <a:rect r="r" b="b" t="t" l="l"/>
            <a:pathLst>
              <a:path h="5891514" w="5504328">
                <a:moveTo>
                  <a:pt x="0" y="0"/>
                </a:moveTo>
                <a:lnTo>
                  <a:pt x="5504328" y="0"/>
                </a:lnTo>
                <a:lnTo>
                  <a:pt x="5504328" y="5891514"/>
                </a:lnTo>
                <a:lnTo>
                  <a:pt x="0" y="589151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63081" y="689481"/>
            <a:ext cx="142646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b="true" sz="1805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84832" y="414276"/>
            <a:ext cx="6876288" cy="399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322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INDIA HACKATHON 2026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84832" y="1002832"/>
            <a:ext cx="2834640" cy="282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7"/>
              </a:lnSpc>
            </a:pPr>
            <a:r>
              <a:rPr lang="en-US" sz="240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IDEA SUBMISSION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075152" y="387477"/>
            <a:ext cx="1792224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b="true" sz="2124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INDIA HACKATHON 2026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63329" y="5511377"/>
            <a:ext cx="829201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239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Automated Integration and Intelligent Harmonization of Multi-source Geospatial Data for Urban Land Record Management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1962" y="8830826"/>
            <a:ext cx="1961553" cy="29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25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NAME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4944" y="2101082"/>
            <a:ext cx="13887831" cy="203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</a:pPr>
            <a:r>
              <a:rPr lang="en-US" sz="8646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</a:t>
            </a:r>
          </a:p>
          <a:p>
            <a:pPr algn="l">
              <a:lnSpc>
                <a:spcPts val="7782"/>
              </a:lnSpc>
            </a:pPr>
            <a:r>
              <a:rPr lang="en-US" sz="8646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INDIA </a:t>
            </a:r>
            <a:r>
              <a:rPr lang="en-US" sz="8646" b="true">
                <a:solidFill>
                  <a:srgbClr val="F264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HACKATHON</a:t>
            </a:r>
            <a:r>
              <a:rPr lang="en-US" sz="8646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2026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1962" y="4885430"/>
            <a:ext cx="3982547" cy="29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25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 ID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282211" y="4889130"/>
            <a:ext cx="1188820" cy="351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933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26013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1962" y="5587577"/>
            <a:ext cx="4547236" cy="29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25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 TITLE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1962" y="7961502"/>
            <a:ext cx="2258758" cy="29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25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PS CATEGORY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282211" y="7966299"/>
            <a:ext cx="1664348" cy="348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8"/>
              </a:lnSpc>
            </a:pPr>
            <a:r>
              <a:rPr lang="en-US" sz="2876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Software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320218" y="8619747"/>
            <a:ext cx="1409319" cy="457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9"/>
              </a:lnSpc>
              <a:spcBef>
                <a:spcPct val="0"/>
              </a:spcBef>
            </a:pPr>
            <a:r>
              <a:rPr lang="en-US" b="true" sz="2770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Advante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4373225" cy="1714500"/>
          </a:xfrm>
          <a:custGeom>
            <a:avLst/>
            <a:gdLst/>
            <a:ahLst/>
            <a:cxnLst/>
            <a:rect r="r" b="b" t="t" l="l"/>
            <a:pathLst>
              <a:path h="1714500" w="14373225">
                <a:moveTo>
                  <a:pt x="0" y="0"/>
                </a:moveTo>
                <a:lnTo>
                  <a:pt x="14373225" y="0"/>
                </a:lnTo>
                <a:lnTo>
                  <a:pt x="143732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9550" y="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8625" y="676275"/>
            <a:ext cx="112128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b="true" sz="1805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ADVANTE</a:t>
            </a:r>
          </a:p>
          <a:p>
            <a:pPr algn="ctr">
              <a:lnSpc>
                <a:spcPts val="216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084832" y="282892"/>
            <a:ext cx="683971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INDIA HACKATHON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84832" y="899541"/>
            <a:ext cx="281635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IDEA SUBMISSION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801850" y="0"/>
            <a:ext cx="1314450" cy="1504950"/>
          </a:xfrm>
          <a:custGeom>
            <a:avLst/>
            <a:gdLst/>
            <a:ahLst/>
            <a:cxnLst/>
            <a:rect r="r" b="b" t="t" l="l"/>
            <a:pathLst>
              <a:path h="1504950" w="13144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93440" y="336042"/>
            <a:ext cx="1773936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6"/>
              </a:lnSpc>
            </a:pPr>
            <a:r>
              <a:rPr lang="en-US" b="true" sz="2088">
                <a:solidFill>
                  <a:srgbClr val="001532">
                    <a:alpha val="69804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INDIA HACKATHON 2026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0" y="1495425"/>
            <a:ext cx="18288000" cy="219075"/>
          </a:xfrm>
          <a:custGeom>
            <a:avLst/>
            <a:gdLst/>
            <a:ahLst/>
            <a:cxnLst/>
            <a:rect r="r" b="b" t="t" l="l"/>
            <a:pathLst>
              <a:path h="219075" w="18288000">
                <a:moveTo>
                  <a:pt x="0" y="0"/>
                </a:moveTo>
                <a:lnTo>
                  <a:pt x="18288000" y="0"/>
                </a:lnTo>
                <a:lnTo>
                  <a:pt x="18288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28625" y="3638550"/>
            <a:ext cx="3933825" cy="647700"/>
          </a:xfrm>
          <a:custGeom>
            <a:avLst/>
            <a:gdLst/>
            <a:ahLst/>
            <a:cxnLst/>
            <a:rect r="r" b="b" t="t" l="l"/>
            <a:pathLst>
              <a:path h="647700" w="3933825">
                <a:moveTo>
                  <a:pt x="0" y="0"/>
                </a:moveTo>
                <a:lnTo>
                  <a:pt x="3933825" y="0"/>
                </a:lnTo>
                <a:lnTo>
                  <a:pt x="3933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31520" y="3842194"/>
            <a:ext cx="237744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69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PROPOSED SOLUTION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28625" y="5572125"/>
            <a:ext cx="4362450" cy="647700"/>
          </a:xfrm>
          <a:custGeom>
            <a:avLst/>
            <a:gdLst/>
            <a:ahLst/>
            <a:cxnLst/>
            <a:rect r="r" b="b" t="t" l="l"/>
            <a:pathLst>
              <a:path h="647700" w="4362450">
                <a:moveTo>
                  <a:pt x="0" y="0"/>
                </a:moveTo>
                <a:lnTo>
                  <a:pt x="4362450" y="0"/>
                </a:lnTo>
                <a:lnTo>
                  <a:pt x="4362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31520" y="5775389"/>
            <a:ext cx="371246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1"/>
              </a:lnSpc>
            </a:pPr>
            <a:r>
              <a:rPr lang="en-US" sz="173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HOW IT ADDRESSES THE PROBLEM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28625" y="7496175"/>
            <a:ext cx="4143375" cy="647700"/>
          </a:xfrm>
          <a:custGeom>
            <a:avLst/>
            <a:gdLst/>
            <a:ahLst/>
            <a:cxnLst/>
            <a:rect r="r" b="b" t="t" l="l"/>
            <a:pathLst>
              <a:path h="647700" w="4143375">
                <a:moveTo>
                  <a:pt x="0" y="0"/>
                </a:moveTo>
                <a:lnTo>
                  <a:pt x="4143375" y="0"/>
                </a:lnTo>
                <a:lnTo>
                  <a:pt x="4143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31520" y="7673721"/>
            <a:ext cx="331012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162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INNOVATION AND UNIQUENESS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705850" y="3429000"/>
            <a:ext cx="3705225" cy="647700"/>
          </a:xfrm>
          <a:custGeom>
            <a:avLst/>
            <a:gdLst/>
            <a:ahLst/>
            <a:cxnLst/>
            <a:rect r="r" b="b" t="t" l="l"/>
            <a:pathLst>
              <a:path h="647700" w="3705225">
                <a:moveTo>
                  <a:pt x="0" y="0"/>
                </a:moveTo>
                <a:lnTo>
                  <a:pt x="3705225" y="0"/>
                </a:lnTo>
                <a:lnTo>
                  <a:pt x="3705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058400" y="3649028"/>
            <a:ext cx="93268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b="true" sz="212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TODAY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267700" y="4067175"/>
            <a:ext cx="4362450" cy="5153025"/>
          </a:xfrm>
          <a:custGeom>
            <a:avLst/>
            <a:gdLst/>
            <a:ahLst/>
            <a:cxnLst/>
            <a:rect r="r" b="b" t="t" l="l"/>
            <a:pathLst>
              <a:path h="5153025" w="4362450">
                <a:moveTo>
                  <a:pt x="0" y="0"/>
                </a:moveTo>
                <a:lnTo>
                  <a:pt x="4362450" y="0"/>
                </a:lnTo>
                <a:lnTo>
                  <a:pt x="4362450" y="5153025"/>
                </a:lnTo>
                <a:lnTo>
                  <a:pt x="0" y="51530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705850" y="4286250"/>
            <a:ext cx="3705225" cy="4714875"/>
          </a:xfrm>
          <a:custGeom>
            <a:avLst/>
            <a:gdLst/>
            <a:ahLst/>
            <a:cxnLst/>
            <a:rect r="r" b="b" t="t" l="l"/>
            <a:pathLst>
              <a:path h="4714875" w="3705225">
                <a:moveTo>
                  <a:pt x="0" y="0"/>
                </a:moveTo>
                <a:lnTo>
                  <a:pt x="3705225" y="0"/>
                </a:lnTo>
                <a:lnTo>
                  <a:pt x="3705225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454896" y="6259481"/>
            <a:ext cx="2011680" cy="69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b="true" sz="1982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SURVEY NO. 255 (UNDIVIDED)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716000" y="3429000"/>
            <a:ext cx="3705225" cy="647700"/>
          </a:xfrm>
          <a:custGeom>
            <a:avLst/>
            <a:gdLst/>
            <a:ahLst/>
            <a:cxnLst/>
            <a:rect r="r" b="b" t="t" l="l"/>
            <a:pathLst>
              <a:path h="647700" w="3705225">
                <a:moveTo>
                  <a:pt x="0" y="0"/>
                </a:moveTo>
                <a:lnTo>
                  <a:pt x="3705225" y="0"/>
                </a:lnTo>
                <a:lnTo>
                  <a:pt x="3705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126456" y="3658553"/>
            <a:ext cx="313284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b="true" sz="198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WITH BHUMI-NAKASHA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277850" y="4067175"/>
            <a:ext cx="4581525" cy="5153025"/>
          </a:xfrm>
          <a:custGeom>
            <a:avLst/>
            <a:gdLst/>
            <a:ahLst/>
            <a:cxnLst/>
            <a:rect r="r" b="b" t="t" l="l"/>
            <a:pathLst>
              <a:path h="5153025" w="4581525">
                <a:moveTo>
                  <a:pt x="0" y="0"/>
                </a:moveTo>
                <a:lnTo>
                  <a:pt x="4581525" y="0"/>
                </a:lnTo>
                <a:lnTo>
                  <a:pt x="4581525" y="5153025"/>
                </a:lnTo>
                <a:lnTo>
                  <a:pt x="0" y="5153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925550" y="4286250"/>
            <a:ext cx="2409825" cy="2790825"/>
          </a:xfrm>
          <a:custGeom>
            <a:avLst/>
            <a:gdLst/>
            <a:ahLst/>
            <a:cxnLst/>
            <a:rect r="r" b="b" t="t" l="l"/>
            <a:pathLst>
              <a:path h="2790825" w="2409825">
                <a:moveTo>
                  <a:pt x="0" y="0"/>
                </a:moveTo>
                <a:lnTo>
                  <a:pt x="2409825" y="0"/>
                </a:lnTo>
                <a:lnTo>
                  <a:pt x="24098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4666976" y="5660517"/>
            <a:ext cx="69494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1"/>
              </a:lnSpc>
            </a:pPr>
            <a:r>
              <a:rPr lang="en-US" b="true" sz="2017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255/1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668625" y="4924425"/>
            <a:ext cx="1971675" cy="3438525"/>
          </a:xfrm>
          <a:custGeom>
            <a:avLst/>
            <a:gdLst/>
            <a:ahLst/>
            <a:cxnLst/>
            <a:rect r="r" b="b" t="t" l="l"/>
            <a:pathLst>
              <a:path h="3438525" w="1971675">
                <a:moveTo>
                  <a:pt x="0" y="0"/>
                </a:moveTo>
                <a:lnTo>
                  <a:pt x="1971675" y="0"/>
                </a:lnTo>
                <a:lnTo>
                  <a:pt x="197167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6184880" y="6293548"/>
            <a:ext cx="76809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b="true" sz="2230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255/2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3925550" y="6638925"/>
            <a:ext cx="2838450" cy="2362200"/>
          </a:xfrm>
          <a:custGeom>
            <a:avLst/>
            <a:gdLst/>
            <a:ahLst/>
            <a:cxnLst/>
            <a:rect r="r" b="b" t="t" l="l"/>
            <a:pathLst>
              <a:path h="2362200" w="2838450">
                <a:moveTo>
                  <a:pt x="0" y="0"/>
                </a:moveTo>
                <a:lnTo>
                  <a:pt x="2838450" y="0"/>
                </a:lnTo>
                <a:lnTo>
                  <a:pt x="2838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5087600" y="7589710"/>
            <a:ext cx="76809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b="true" sz="2230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255/3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2620625" y="6000750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640080" y="1905952"/>
            <a:ext cx="501091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4"/>
              </a:lnSpc>
            </a:pPr>
            <a:r>
              <a:rPr lang="en-US" sz="4712" b="true">
                <a:solidFill>
                  <a:srgbClr val="F263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Bhumi-Nakasha-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907024" y="1910715"/>
            <a:ext cx="630936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9"/>
              </a:lnSpc>
            </a:pPr>
            <a:r>
              <a:rPr lang="en-US" sz="4641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From Survey Number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40080" y="2641092"/>
            <a:ext cx="740664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9"/>
              </a:lnSpc>
            </a:pPr>
            <a:r>
              <a:rPr lang="en-US" sz="4641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Intelligent Land Parcel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1520" y="4355402"/>
            <a:ext cx="506577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557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AI/GeoAI fuses cadastrad maps + textual land records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31520" y="4710684"/>
            <a:ext cx="667512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CV extracts survey boundaries from scanned sheets + drone imagery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1520" y="5070729"/>
            <a:ext cx="662025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Area-constrained ML splitss Survey No. 255 into 255/1, 255/2, 255/3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1520" y="6274308"/>
            <a:ext cx="652881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Automates spatial matching, topology correction, conflict resolution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31520" y="6634353"/>
            <a:ext cx="683971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Integrates drone, ORI, DSM/DTM, GNSS, revenue, municipal, utility data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31520" y="6994398"/>
            <a:ext cx="658368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Removes manual GIS-technician bottlenecks in cadastral finalization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31520" y="8177403"/>
            <a:ext cx="632764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India-specific fractional survey-number inference using ML + GNN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31520" y="8537448"/>
            <a:ext cx="658368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Human-in-loop confidence scoring, no auto legal boundary decisions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31520" y="8897493"/>
            <a:ext cx="539496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Natural-language GIS assistant for English/Hindi queries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4373225" cy="1714500"/>
          </a:xfrm>
          <a:custGeom>
            <a:avLst/>
            <a:gdLst/>
            <a:ahLst/>
            <a:cxnLst/>
            <a:rect r="r" b="b" t="t" l="l"/>
            <a:pathLst>
              <a:path h="1714500" w="14373225">
                <a:moveTo>
                  <a:pt x="0" y="0"/>
                </a:moveTo>
                <a:lnTo>
                  <a:pt x="14373225" y="0"/>
                </a:lnTo>
                <a:lnTo>
                  <a:pt x="143732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9550" y="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01850" y="0"/>
            <a:ext cx="1314450" cy="1504950"/>
          </a:xfrm>
          <a:custGeom>
            <a:avLst/>
            <a:gdLst/>
            <a:ahLst/>
            <a:cxnLst/>
            <a:rect r="r" b="b" t="t" l="l"/>
            <a:pathLst>
              <a:path h="1504950" w="13144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1495425"/>
            <a:ext cx="18288000" cy="219075"/>
          </a:xfrm>
          <a:custGeom>
            <a:avLst/>
            <a:gdLst/>
            <a:ahLst/>
            <a:cxnLst/>
            <a:rect r="r" b="b" t="t" l="l"/>
            <a:pathLst>
              <a:path h="219075" w="18288000">
                <a:moveTo>
                  <a:pt x="0" y="0"/>
                </a:moveTo>
                <a:lnTo>
                  <a:pt x="18288000" y="0"/>
                </a:lnTo>
                <a:lnTo>
                  <a:pt x="18288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8625" y="3638550"/>
            <a:ext cx="1752600" cy="219075"/>
          </a:xfrm>
          <a:custGeom>
            <a:avLst/>
            <a:gdLst/>
            <a:ahLst/>
            <a:cxnLst/>
            <a:rect r="r" b="b" t="t" l="l"/>
            <a:pathLst>
              <a:path h="219075" w="1752600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8625" y="5781675"/>
            <a:ext cx="4800600" cy="3648075"/>
          </a:xfrm>
          <a:custGeom>
            <a:avLst/>
            <a:gdLst/>
            <a:ahLst/>
            <a:cxnLst/>
            <a:rect r="r" b="b" t="t" l="l"/>
            <a:pathLst>
              <a:path h="3648075" w="4800600">
                <a:moveTo>
                  <a:pt x="0" y="0"/>
                </a:moveTo>
                <a:lnTo>
                  <a:pt x="4800600" y="0"/>
                </a:lnTo>
                <a:lnTo>
                  <a:pt x="480060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6775" y="7496175"/>
            <a:ext cx="4143375" cy="219075"/>
          </a:xfrm>
          <a:custGeom>
            <a:avLst/>
            <a:gdLst/>
            <a:ahLst/>
            <a:cxnLst/>
            <a:rect r="r" b="b" t="t" l="l"/>
            <a:pathLst>
              <a:path h="219075" w="4143375">
                <a:moveTo>
                  <a:pt x="0" y="0"/>
                </a:moveTo>
                <a:lnTo>
                  <a:pt x="4143375" y="0"/>
                </a:lnTo>
                <a:lnTo>
                  <a:pt x="4143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0976" y="7631272"/>
            <a:ext cx="2926080" cy="540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Tesseracl/Cloud Vision OCR</a:t>
            </a:r>
          </a:p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IndicBERT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66775" y="8143875"/>
            <a:ext cx="4143375" cy="219075"/>
          </a:xfrm>
          <a:custGeom>
            <a:avLst/>
            <a:gdLst/>
            <a:ahLst/>
            <a:cxnLst/>
            <a:rect r="r" b="b" t="t" l="l"/>
            <a:pathLst>
              <a:path h="219075" w="4143375">
                <a:moveTo>
                  <a:pt x="0" y="0"/>
                </a:moveTo>
                <a:lnTo>
                  <a:pt x="4143375" y="0"/>
                </a:lnTo>
                <a:lnTo>
                  <a:pt x="4143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50976" y="8335170"/>
            <a:ext cx="1133856" cy="26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LLM + RAG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66775" y="8572500"/>
            <a:ext cx="4143375" cy="219075"/>
          </a:xfrm>
          <a:custGeom>
            <a:avLst/>
            <a:gdLst/>
            <a:ahLst/>
            <a:cxnLst/>
            <a:rect r="r" b="b" t="t" l="l"/>
            <a:pathLst>
              <a:path h="219075" w="4143375">
                <a:moveTo>
                  <a:pt x="0" y="0"/>
                </a:moveTo>
                <a:lnTo>
                  <a:pt x="4143375" y="0"/>
                </a:lnTo>
                <a:lnTo>
                  <a:pt x="4143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813923" y="2104724"/>
            <a:ext cx="12071741" cy="7662578"/>
          </a:xfrm>
          <a:custGeom>
            <a:avLst/>
            <a:gdLst/>
            <a:ahLst/>
            <a:cxnLst/>
            <a:rect r="r" b="b" t="t" l="l"/>
            <a:pathLst>
              <a:path h="7662578" w="12071741">
                <a:moveTo>
                  <a:pt x="0" y="0"/>
                </a:moveTo>
                <a:lnTo>
                  <a:pt x="12071741" y="0"/>
                </a:lnTo>
                <a:lnTo>
                  <a:pt x="12071741" y="7662578"/>
                </a:lnTo>
                <a:lnTo>
                  <a:pt x="0" y="76625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799" t="-1312" r="-799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111728" y="323398"/>
            <a:ext cx="1773936" cy="1021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b="true" sz="2088">
                <a:solidFill>
                  <a:srgbClr val="001C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INDIA HACKATHON 2026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0080" y="2015720"/>
            <a:ext cx="4133088" cy="1457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8"/>
              </a:lnSpc>
            </a:pPr>
            <a:r>
              <a:rPr lang="en-US" sz="5243" b="true">
                <a:solidFill>
                  <a:srgbClr val="001C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TECHNICAL APPROACH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0080" y="4096266"/>
            <a:ext cx="3712464" cy="1553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 b="true">
                <a:solidFill>
                  <a:srgbClr val="001C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and GeoAI pipeline that harmonizes multi-source data into intelligent, trusted land parcels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0976" y="6362352"/>
            <a:ext cx="2633472" cy="1093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PyTorch</a:t>
            </a:r>
          </a:p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Segment Anything Model</a:t>
            </a:r>
          </a:p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U-Net</a:t>
            </a:r>
          </a:p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PyTorch Geometric (GNN)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7552" y="8783416"/>
            <a:ext cx="1938528" cy="540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Locker/Kubernetes</a:t>
            </a:r>
          </a:p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AWS/Gol Cloud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52544" y="283563"/>
            <a:ext cx="6876288" cy="53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INDIA HACKATHON 2026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52544" y="888783"/>
            <a:ext cx="2834640" cy="396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IDEA SUBMISSION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84832" y="5907438"/>
            <a:ext cx="1645920" cy="26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9"/>
              </a:lnSpc>
            </a:pPr>
            <a:r>
              <a:rPr lang="en-US" b="true" sz="159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/ ML ENGINE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1485" y="720023"/>
            <a:ext cx="1489655" cy="489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5"/>
              </a:lnSpc>
            </a:pPr>
            <a:r>
              <a:rPr lang="en-US" b="true" sz="1805">
                <a:solidFill>
                  <a:srgbClr val="001C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ADVANTE</a:t>
            </a:r>
          </a:p>
          <a:p>
            <a:pPr algn="ctr">
              <a:lnSpc>
                <a:spcPts val="1985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6364224" y="8560565"/>
            <a:ext cx="164592" cy="29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4373225" cy="1714500"/>
          </a:xfrm>
          <a:custGeom>
            <a:avLst/>
            <a:gdLst/>
            <a:ahLst/>
            <a:cxnLst/>
            <a:rect r="r" b="b" t="t" l="l"/>
            <a:pathLst>
              <a:path h="1714500" w="14373225">
                <a:moveTo>
                  <a:pt x="0" y="0"/>
                </a:moveTo>
                <a:lnTo>
                  <a:pt x="14373225" y="0"/>
                </a:lnTo>
                <a:lnTo>
                  <a:pt x="143732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1938" y="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4" y="0"/>
                </a:lnTo>
                <a:lnTo>
                  <a:pt x="1533524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01850" y="0"/>
            <a:ext cx="1314450" cy="1504950"/>
          </a:xfrm>
          <a:custGeom>
            <a:avLst/>
            <a:gdLst/>
            <a:ahLst/>
            <a:cxnLst/>
            <a:rect r="r" b="b" t="t" l="l"/>
            <a:pathLst>
              <a:path h="1504950" w="13144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1495425"/>
            <a:ext cx="18288000" cy="219075"/>
          </a:xfrm>
          <a:custGeom>
            <a:avLst/>
            <a:gdLst/>
            <a:ahLst/>
            <a:cxnLst/>
            <a:rect r="r" b="b" t="t" l="l"/>
            <a:pathLst>
              <a:path h="219075" w="18288000">
                <a:moveTo>
                  <a:pt x="0" y="0"/>
                </a:moveTo>
                <a:lnTo>
                  <a:pt x="18288000" y="0"/>
                </a:lnTo>
                <a:lnTo>
                  <a:pt x="18288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1792" y="2765298"/>
            <a:ext cx="16251483" cy="6868619"/>
          </a:xfrm>
          <a:custGeom>
            <a:avLst/>
            <a:gdLst/>
            <a:ahLst/>
            <a:cxnLst/>
            <a:rect r="r" b="b" t="t" l="l"/>
            <a:pathLst>
              <a:path h="6868619" w="16251483">
                <a:moveTo>
                  <a:pt x="0" y="0"/>
                </a:moveTo>
                <a:lnTo>
                  <a:pt x="16251483" y="0"/>
                </a:lnTo>
                <a:lnTo>
                  <a:pt x="16251483" y="6868619"/>
                </a:lnTo>
                <a:lnTo>
                  <a:pt x="0" y="68686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04" r="0" b="-20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093684" y="215927"/>
            <a:ext cx="687628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8"/>
              </a:lnSpc>
            </a:pPr>
            <a:r>
              <a:rPr lang="en-US" sz="3506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SMART INDIA HACKATHON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72728" y="905066"/>
            <a:ext cx="281635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IDEA SUBMISSION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30016" y="328041"/>
            <a:ext cx="175564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4"/>
              </a:lnSpc>
            </a:pPr>
            <a:r>
              <a:rPr lang="en-US" b="true" sz="2195">
                <a:solidFill>
                  <a:srgbClr val="001F3D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SMART INDIA HACKATHON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1792" y="1936623"/>
            <a:ext cx="7644384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5"/>
              </a:lnSpc>
            </a:pPr>
            <a:r>
              <a:rPr lang="en-US" sz="5421" b="true">
                <a:solidFill>
                  <a:srgbClr val="001F3D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Feasibility and Viability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6238" y="694754"/>
            <a:ext cx="130492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3"/>
              </a:lnSpc>
            </a:pPr>
            <a:r>
              <a:rPr lang="en-US" b="true" sz="1911">
                <a:solidFill>
                  <a:srgbClr val="001F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ADVANTE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4373225" cy="1714500"/>
          </a:xfrm>
          <a:custGeom>
            <a:avLst/>
            <a:gdLst/>
            <a:ahLst/>
            <a:cxnLst/>
            <a:rect r="r" b="b" t="t" l="l"/>
            <a:pathLst>
              <a:path h="1714500" w="14373225">
                <a:moveTo>
                  <a:pt x="0" y="0"/>
                </a:moveTo>
                <a:lnTo>
                  <a:pt x="14373225" y="0"/>
                </a:lnTo>
                <a:lnTo>
                  <a:pt x="143732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9550" y="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82775" y="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1495425"/>
            <a:ext cx="18288000" cy="219075"/>
          </a:xfrm>
          <a:custGeom>
            <a:avLst/>
            <a:gdLst/>
            <a:ahLst/>
            <a:cxnLst/>
            <a:rect r="r" b="b" t="t" l="l"/>
            <a:pathLst>
              <a:path h="219075" w="18288000">
                <a:moveTo>
                  <a:pt x="0" y="0"/>
                </a:moveTo>
                <a:lnTo>
                  <a:pt x="18288000" y="0"/>
                </a:lnTo>
                <a:lnTo>
                  <a:pt x="18288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9429750"/>
            <a:ext cx="14811375" cy="857250"/>
          </a:xfrm>
          <a:custGeom>
            <a:avLst/>
            <a:gdLst/>
            <a:ahLst/>
            <a:cxnLst/>
            <a:rect r="r" b="b" t="t" l="l"/>
            <a:pathLst>
              <a:path h="857250" w="14811375">
                <a:moveTo>
                  <a:pt x="0" y="0"/>
                </a:moveTo>
                <a:lnTo>
                  <a:pt x="14811375" y="0"/>
                </a:lnTo>
                <a:lnTo>
                  <a:pt x="14811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363700" y="9429750"/>
            <a:ext cx="3924300" cy="857250"/>
          </a:xfrm>
          <a:custGeom>
            <a:avLst/>
            <a:gdLst/>
            <a:ahLst/>
            <a:cxnLst/>
            <a:rect r="r" b="b" t="t" l="l"/>
            <a:pathLst>
              <a:path h="857250" w="3924300">
                <a:moveTo>
                  <a:pt x="0" y="0"/>
                </a:moveTo>
                <a:lnTo>
                  <a:pt x="3924300" y="0"/>
                </a:lnTo>
                <a:lnTo>
                  <a:pt x="3924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72625" y="1714500"/>
            <a:ext cx="4143375" cy="3648075"/>
          </a:xfrm>
          <a:custGeom>
            <a:avLst/>
            <a:gdLst/>
            <a:ahLst/>
            <a:cxnLst/>
            <a:rect r="r" b="b" t="t" l="l"/>
            <a:pathLst>
              <a:path h="3648075" w="4143375">
                <a:moveTo>
                  <a:pt x="0" y="0"/>
                </a:moveTo>
                <a:lnTo>
                  <a:pt x="4143375" y="0"/>
                </a:lnTo>
                <a:lnTo>
                  <a:pt x="414337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186416" y="3232228"/>
            <a:ext cx="1755648" cy="65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1876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fewer disputes, transparency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496925" y="1714500"/>
            <a:ext cx="4362450" cy="3648075"/>
          </a:xfrm>
          <a:custGeom>
            <a:avLst/>
            <a:gdLst/>
            <a:ahLst/>
            <a:cxnLst/>
            <a:rect r="r" b="b" t="t" l="l"/>
            <a:pathLst>
              <a:path h="3648075" w="4362450">
                <a:moveTo>
                  <a:pt x="0" y="0"/>
                </a:moveTo>
                <a:lnTo>
                  <a:pt x="4362450" y="0"/>
                </a:lnTo>
                <a:lnTo>
                  <a:pt x="436245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526512" y="3204121"/>
            <a:ext cx="1572768" cy="105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sz="2017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faster loans, reduced legal costs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572625" y="5353050"/>
            <a:ext cx="4143375" cy="4076700"/>
          </a:xfrm>
          <a:custGeom>
            <a:avLst/>
            <a:gdLst/>
            <a:ahLst/>
            <a:cxnLst/>
            <a:rect r="r" b="b" t="t" l="l"/>
            <a:pathLst>
              <a:path h="4076700" w="4143375">
                <a:moveTo>
                  <a:pt x="0" y="0"/>
                </a:moveTo>
                <a:lnTo>
                  <a:pt x="4143375" y="0"/>
                </a:lnTo>
                <a:lnTo>
                  <a:pt x="414337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186416" y="6883178"/>
            <a:ext cx="1755648" cy="34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982" b="true">
                <a:solidFill>
                  <a:srgbClr val="0075B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GOVERNANCE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86416" y="7370356"/>
            <a:ext cx="1883664" cy="105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versioned golden record, interoperability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496925" y="5353050"/>
            <a:ext cx="4362450" cy="4076700"/>
          </a:xfrm>
          <a:custGeom>
            <a:avLst/>
            <a:gdLst/>
            <a:ahLst/>
            <a:cxnLst/>
            <a:rect r="r" b="b" t="t" l="l"/>
            <a:pathLst>
              <a:path h="4076700" w="4362450">
                <a:moveTo>
                  <a:pt x="0" y="0"/>
                </a:moveTo>
                <a:lnTo>
                  <a:pt x="4362450" y="0"/>
                </a:lnTo>
                <a:lnTo>
                  <a:pt x="436245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215616" y="6773381"/>
            <a:ext cx="2176272" cy="683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1947" b="true">
                <a:solidFill>
                  <a:srgbClr val="248F3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ENVIRONMENTAL / PLANNING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972925" y="3638550"/>
            <a:ext cx="3267075" cy="3219450"/>
          </a:xfrm>
          <a:custGeom>
            <a:avLst/>
            <a:gdLst/>
            <a:ahLst/>
            <a:cxnLst/>
            <a:rect r="r" b="b" t="t" l="l"/>
            <a:pathLst>
              <a:path h="3219450" w="3267075">
                <a:moveTo>
                  <a:pt x="0" y="0"/>
                </a:moveTo>
                <a:lnTo>
                  <a:pt x="3267075" y="0"/>
                </a:lnTo>
                <a:lnTo>
                  <a:pt x="32670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746736" y="4512823"/>
            <a:ext cx="1792224" cy="144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1"/>
              </a:lnSpc>
            </a:pPr>
            <a:r>
              <a:rPr lang="en-US" b="true" sz="308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IMPACT THAT MATTERS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1534775" y="3000375"/>
            <a:ext cx="1971675" cy="2143125"/>
          </a:xfrm>
          <a:custGeom>
            <a:avLst/>
            <a:gdLst/>
            <a:ahLst/>
            <a:cxnLst/>
            <a:rect r="r" b="b" t="t" l="l"/>
            <a:pathLst>
              <a:path h="2143125" w="1971675">
                <a:moveTo>
                  <a:pt x="0" y="0"/>
                </a:moveTo>
                <a:lnTo>
                  <a:pt x="1971675" y="0"/>
                </a:lnTo>
                <a:lnTo>
                  <a:pt x="197167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925550" y="3000375"/>
            <a:ext cx="1752600" cy="2143125"/>
          </a:xfrm>
          <a:custGeom>
            <a:avLst/>
            <a:gdLst/>
            <a:ahLst/>
            <a:cxnLst/>
            <a:rect r="r" b="b" t="t" l="l"/>
            <a:pathLst>
              <a:path h="2143125" w="1752600">
                <a:moveTo>
                  <a:pt x="0" y="0"/>
                </a:moveTo>
                <a:lnTo>
                  <a:pt x="1752600" y="0"/>
                </a:lnTo>
                <a:lnTo>
                  <a:pt x="17526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534775" y="5572125"/>
            <a:ext cx="1971675" cy="1933575"/>
          </a:xfrm>
          <a:custGeom>
            <a:avLst/>
            <a:gdLst/>
            <a:ahLst/>
            <a:cxnLst/>
            <a:rect r="r" b="b" t="t" l="l"/>
            <a:pathLst>
              <a:path h="1933575" w="19716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925550" y="5572125"/>
            <a:ext cx="1752600" cy="1933575"/>
          </a:xfrm>
          <a:custGeom>
            <a:avLst/>
            <a:gdLst/>
            <a:ahLst/>
            <a:cxnLst/>
            <a:rect r="r" b="b" t="t" l="l"/>
            <a:pathLst>
              <a:path h="1933575" w="1752600">
                <a:moveTo>
                  <a:pt x="0" y="0"/>
                </a:moveTo>
                <a:lnTo>
                  <a:pt x="1752600" y="0"/>
                </a:lnTo>
                <a:lnTo>
                  <a:pt x="1752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pic>
        <p:nvPicPr>
          <p:cNvPr name="Picture 24" id="24">
            <a:hlinkClick action="ppaction://media"/>
          </p:cNvPr>
          <p:cNvPicPr>
            <a:picLocks noChangeAspect="true"/>
          </p:cNvPicPr>
          <p:nvPr>
            <a:vide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18"/>
          <a:srcRect l="554" t="0" r="554" b="0"/>
          <a:stretch>
            <a:fillRect/>
          </a:stretch>
        </p:blipFill>
        <p:spPr>
          <a:xfrm flipH="false" flipV="false" rot="0">
            <a:off x="-8278" y="2758934"/>
            <a:ext cx="9870844" cy="5626381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419125" y="579254"/>
            <a:ext cx="1114375" cy="29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b="true" sz="1805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ADVANTE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075152" y="373684"/>
            <a:ext cx="1792224" cy="91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2"/>
              </a:lnSpc>
            </a:pPr>
            <a:r>
              <a:rPr lang="en-US" b="true" sz="2124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INDIA HACKATHON 2026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21792" y="9754463"/>
            <a:ext cx="8357616" cy="34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INTELLIGENT PARCELS. ACCURATE RECORDS. EMPOWERING INDIA.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86416" y="2619510"/>
            <a:ext cx="1024128" cy="38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SOCIAL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380208" y="2632898"/>
            <a:ext cx="1517904" cy="364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b="true" sz="2159">
                <a:solidFill>
                  <a:srgbClr val="E463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ECONOMIC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124176" y="7725552"/>
            <a:ext cx="2084832" cy="99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1876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accurate land-use, infrastructure planning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370832" y="185680"/>
            <a:ext cx="6876288" cy="580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INDIA HACKATHON 2026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370832" y="850059"/>
            <a:ext cx="2816352" cy="422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247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IDEA SUBMISSION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4373225" cy="1714500"/>
          </a:xfrm>
          <a:custGeom>
            <a:avLst/>
            <a:gdLst/>
            <a:ahLst/>
            <a:cxnLst/>
            <a:rect r="r" b="b" t="t" l="l"/>
            <a:pathLst>
              <a:path h="1714500" w="14373225">
                <a:moveTo>
                  <a:pt x="0" y="0"/>
                </a:moveTo>
                <a:lnTo>
                  <a:pt x="14373225" y="0"/>
                </a:lnTo>
                <a:lnTo>
                  <a:pt x="143732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9550" y="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84832" y="328422"/>
            <a:ext cx="683971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329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INDIA HACKATHON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84832" y="920115"/>
            <a:ext cx="281635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IDEA SUBMISSION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496925" y="0"/>
            <a:ext cx="4791075" cy="1714500"/>
          </a:xfrm>
          <a:custGeom>
            <a:avLst/>
            <a:gdLst/>
            <a:ahLst/>
            <a:cxnLst/>
            <a:rect r="r" b="b" t="t" l="l"/>
            <a:pathLst>
              <a:path h="1714500" w="4791075">
                <a:moveTo>
                  <a:pt x="0" y="0"/>
                </a:moveTo>
                <a:lnTo>
                  <a:pt x="4791075" y="0"/>
                </a:lnTo>
                <a:lnTo>
                  <a:pt x="47910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582775" y="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93440" y="382715"/>
            <a:ext cx="1773936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b="true" sz="2159">
                <a:solidFill>
                  <a:srgbClr val="001532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SMART INDIA HACKATHON 2026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0" y="1495425"/>
            <a:ext cx="18288000" cy="219075"/>
          </a:xfrm>
          <a:custGeom>
            <a:avLst/>
            <a:gdLst/>
            <a:ahLst/>
            <a:cxnLst/>
            <a:rect r="r" b="b" t="t" l="l"/>
            <a:pathLst>
              <a:path h="219075" w="18288000">
                <a:moveTo>
                  <a:pt x="0" y="0"/>
                </a:moveTo>
                <a:lnTo>
                  <a:pt x="18288000" y="0"/>
                </a:lnTo>
                <a:lnTo>
                  <a:pt x="18288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8096" y="4296918"/>
            <a:ext cx="5376672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6"/>
              </a:lnSpc>
            </a:pPr>
            <a:r>
              <a:rPr lang="en-US" sz="6271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Research and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8096" y="5272850"/>
            <a:ext cx="486460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91"/>
              </a:lnSpc>
            </a:pPr>
            <a:r>
              <a:rPr lang="en-US" sz="6909" b="true">
                <a:solidFill>
                  <a:srgbClr val="E45B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References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7700" y="6429375"/>
            <a:ext cx="1533525" cy="428625"/>
          </a:xfrm>
          <a:custGeom>
            <a:avLst/>
            <a:gdLst/>
            <a:ahLst/>
            <a:cxnLst/>
            <a:rect r="r" b="b" t="t" l="l"/>
            <a:pathLst>
              <a:path h="428625" w="1533525">
                <a:moveTo>
                  <a:pt x="0" y="0"/>
                </a:moveTo>
                <a:lnTo>
                  <a:pt x="1533525" y="0"/>
                </a:lnTo>
                <a:lnTo>
                  <a:pt x="15335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524625" y="214312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743700" y="235267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400925" y="2143125"/>
            <a:ext cx="10239375" cy="857250"/>
          </a:xfrm>
          <a:custGeom>
            <a:avLst/>
            <a:gdLst/>
            <a:ahLst/>
            <a:cxnLst/>
            <a:rect r="r" b="b" t="t" l="l"/>
            <a:pathLst>
              <a:path h="857250" w="10239375">
                <a:moveTo>
                  <a:pt x="0" y="0"/>
                </a:moveTo>
                <a:lnTo>
                  <a:pt x="10239375" y="0"/>
                </a:lnTo>
                <a:lnTo>
                  <a:pt x="1023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717536" y="2459355"/>
            <a:ext cx="824788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Ministry of Rural Development / DoLR – SIH Problem Statement 26013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524625" y="300037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743700" y="320992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400925" y="3000375"/>
            <a:ext cx="10239375" cy="857250"/>
          </a:xfrm>
          <a:custGeom>
            <a:avLst/>
            <a:gdLst/>
            <a:ahLst/>
            <a:cxnLst/>
            <a:rect r="r" b="b" t="t" l="l"/>
            <a:pathLst>
              <a:path h="857250" w="10239375">
                <a:moveTo>
                  <a:pt x="0" y="0"/>
                </a:moveTo>
                <a:lnTo>
                  <a:pt x="10239375" y="0"/>
                </a:lnTo>
                <a:lnTo>
                  <a:pt x="1023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717536" y="3313176"/>
            <a:ext cx="870508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NAKSHA programme (National Geospatial Knowledge-based Land Survey)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524625" y="385762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743700" y="406717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400925" y="3857625"/>
            <a:ext cx="10239375" cy="857250"/>
          </a:xfrm>
          <a:custGeom>
            <a:avLst/>
            <a:gdLst/>
            <a:ahLst/>
            <a:cxnLst/>
            <a:rect r="r" b="b" t="t" l="l"/>
            <a:pathLst>
              <a:path h="857250" w="10239375">
                <a:moveTo>
                  <a:pt x="0" y="0"/>
                </a:moveTo>
                <a:lnTo>
                  <a:pt x="10239375" y="0"/>
                </a:lnTo>
                <a:lnTo>
                  <a:pt x="1023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7717536" y="4162235"/>
            <a:ext cx="555955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911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SVAMITVA Scheme, Ministry of Panchayati Raj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6524625" y="471487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743700" y="492442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400925" y="4714875"/>
            <a:ext cx="10239375" cy="857250"/>
          </a:xfrm>
          <a:custGeom>
            <a:avLst/>
            <a:gdLst/>
            <a:ahLst/>
            <a:cxnLst/>
            <a:rect r="r" b="b" t="t" l="l"/>
            <a:pathLst>
              <a:path h="857250" w="10239375">
                <a:moveTo>
                  <a:pt x="0" y="0"/>
                </a:moveTo>
                <a:lnTo>
                  <a:pt x="10239375" y="0"/>
                </a:lnTo>
                <a:lnTo>
                  <a:pt x="1023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7717536" y="5035868"/>
            <a:ext cx="936345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3"/>
              </a:lnSpc>
            </a:pPr>
            <a:r>
              <a:rPr lang="en-US" sz="176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Maharashtra Bhumi Abholekh / Mahabhulekh portal (bhulekh.mahabhumi.gov.in)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6524625" y="557212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743700" y="55721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400925" y="5572125"/>
            <a:ext cx="10239375" cy="857250"/>
          </a:xfrm>
          <a:custGeom>
            <a:avLst/>
            <a:gdLst/>
            <a:ahLst/>
            <a:cxnLst/>
            <a:rect r="r" b="b" t="t" l="l"/>
            <a:pathLst>
              <a:path h="857250" w="10239375">
                <a:moveTo>
                  <a:pt x="0" y="0"/>
                </a:moveTo>
                <a:lnTo>
                  <a:pt x="10239375" y="0"/>
                </a:lnTo>
                <a:lnTo>
                  <a:pt x="1023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7717536" y="5884926"/>
            <a:ext cx="954633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Pilot: Plot Report, Village Khedi, Taluka Narkhed, District Nagpur (Survey No. 255)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6524625" y="642937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6743700" y="64293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400925" y="6429375"/>
            <a:ext cx="10239375" cy="857250"/>
          </a:xfrm>
          <a:custGeom>
            <a:avLst/>
            <a:gdLst/>
            <a:ahLst/>
            <a:cxnLst/>
            <a:rect r="r" b="b" t="t" l="l"/>
            <a:pathLst>
              <a:path h="857250" w="10239375">
                <a:moveTo>
                  <a:pt x="0" y="0"/>
                </a:moveTo>
                <a:lnTo>
                  <a:pt x="10239375" y="0"/>
                </a:lnTo>
                <a:lnTo>
                  <a:pt x="1023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7717536" y="6697599"/>
            <a:ext cx="369417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Segment Anything Model paper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6524625" y="728662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6743700" y="72866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7400925" y="7286625"/>
            <a:ext cx="10239375" cy="857250"/>
          </a:xfrm>
          <a:custGeom>
            <a:avLst/>
            <a:gdLst/>
            <a:ahLst/>
            <a:cxnLst/>
            <a:rect r="r" b="b" t="t" l="l"/>
            <a:pathLst>
              <a:path h="857250" w="10239375">
                <a:moveTo>
                  <a:pt x="0" y="0"/>
                </a:moveTo>
                <a:lnTo>
                  <a:pt x="10239375" y="0"/>
                </a:lnTo>
                <a:lnTo>
                  <a:pt x="1023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7717536" y="7561707"/>
            <a:ext cx="279806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PostGIS documentation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6524625" y="814387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6743700" y="81438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7400925" y="8143875"/>
            <a:ext cx="10239375" cy="857250"/>
          </a:xfrm>
          <a:custGeom>
            <a:avLst/>
            <a:gdLst/>
            <a:ahLst/>
            <a:cxnLst/>
            <a:rect r="r" b="b" t="t" l="l"/>
            <a:pathLst>
              <a:path h="857250" w="10239375">
                <a:moveTo>
                  <a:pt x="0" y="0"/>
                </a:moveTo>
                <a:lnTo>
                  <a:pt x="10239375" y="0"/>
                </a:lnTo>
                <a:lnTo>
                  <a:pt x="1023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7717536" y="8415528"/>
            <a:ext cx="415137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PyTorch Geometric documentation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0" y="9429750"/>
            <a:ext cx="14811375" cy="857250"/>
          </a:xfrm>
          <a:custGeom>
            <a:avLst/>
            <a:gdLst/>
            <a:ahLst/>
            <a:cxnLst/>
            <a:rect r="r" b="b" t="t" l="l"/>
            <a:pathLst>
              <a:path h="857250" w="14811375">
                <a:moveTo>
                  <a:pt x="0" y="0"/>
                </a:moveTo>
                <a:lnTo>
                  <a:pt x="14811375" y="0"/>
                </a:lnTo>
                <a:lnTo>
                  <a:pt x="14811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621792" y="9815322"/>
            <a:ext cx="83393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INTELLIGENT PARCELS. ACCURATE RECORDS. EMPOWERING INDIA.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4363700" y="9429750"/>
            <a:ext cx="3924300" cy="857250"/>
          </a:xfrm>
          <a:custGeom>
            <a:avLst/>
            <a:gdLst/>
            <a:ahLst/>
            <a:cxnLst/>
            <a:rect r="r" b="b" t="t" l="l"/>
            <a:pathLst>
              <a:path h="857250" w="3924300">
                <a:moveTo>
                  <a:pt x="0" y="0"/>
                </a:moveTo>
                <a:lnTo>
                  <a:pt x="3924300" y="0"/>
                </a:lnTo>
                <a:lnTo>
                  <a:pt x="3924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415671" y="733425"/>
            <a:ext cx="1121283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b="true" sz="1805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DAHTr6pWxqw</dc:identifier>
  <dcterms:modified xsi:type="dcterms:W3CDTF">2011-08-01T06:04:30Z</dcterms:modified>
  <cp:revision>1</cp:revision>
  <dc:title>Advante</dc:title>
</cp:coreProperties>
</file>
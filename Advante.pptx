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0000000000000000000"/>
      <p:regular r:id="rId12"/>
    </p:embeddedFont>
    <p:embeddedFont>
      <p:font typeface="Open Sans Semi-Bold" charset="1" panose="00000000000000000000"/>
      <p:regular r:id="rId13"/>
    </p:embeddedFont>
    <p:embeddedFont>
      <p:font typeface="Open Sans Medium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png" Type="http://schemas.openxmlformats.org/officeDocument/2006/relationships/image"/><Relationship Id="rId19" Target="../media/image36.png" Type="http://schemas.openxmlformats.org/officeDocument/2006/relationships/image"/><Relationship Id="rId2" Target="../media/image19.png" Type="http://schemas.openxmlformats.org/officeDocument/2006/relationships/image"/><Relationship Id="rId20" Target="../media/image37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38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22" Target="../media/image58.png" Type="http://schemas.openxmlformats.org/officeDocument/2006/relationships/image"/><Relationship Id="rId23" Target="../media/image59.png" Type="http://schemas.openxmlformats.org/officeDocument/2006/relationships/image"/><Relationship Id="rId24" Target="../media/image60.png" Type="http://schemas.openxmlformats.org/officeDocument/2006/relationships/image"/><Relationship Id="rId25" Target="../media/image61.png" Type="http://schemas.openxmlformats.org/officeDocument/2006/relationships/image"/><Relationship Id="rId26" Target="../media/image62.png" Type="http://schemas.openxmlformats.org/officeDocument/2006/relationships/image"/><Relationship Id="rId27" Target="../media/image63.png" Type="http://schemas.openxmlformats.org/officeDocument/2006/relationships/image"/><Relationship Id="rId28" Target="../media/image64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65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23" Target="../media/image86.png" Type="http://schemas.openxmlformats.org/officeDocument/2006/relationships/image"/><Relationship Id="rId24" Target="../media/image87.png" Type="http://schemas.openxmlformats.org/officeDocument/2006/relationships/image"/><Relationship Id="rId25" Target="../media/image88.png" Type="http://schemas.openxmlformats.org/officeDocument/2006/relationships/image"/><Relationship Id="rId26" Target="../media/image89.png" Type="http://schemas.openxmlformats.org/officeDocument/2006/relationships/image"/><Relationship Id="rId27" Target="../media/image90.png" Type="http://schemas.openxmlformats.org/officeDocument/2006/relationships/image"/><Relationship Id="rId28" Target="../media/image91.png" Type="http://schemas.openxmlformats.org/officeDocument/2006/relationships/image"/><Relationship Id="rId29" Target="../media/image92.png" Type="http://schemas.openxmlformats.org/officeDocument/2006/relationships/image"/><Relationship Id="rId3" Target="../media/image66.png" Type="http://schemas.openxmlformats.org/officeDocument/2006/relationships/image"/><Relationship Id="rId30" Target="../media/image93.png" Type="http://schemas.openxmlformats.org/officeDocument/2006/relationships/image"/><Relationship Id="rId31" Target="../media/image94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pn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14" Target="../media/image107.png" Type="http://schemas.openxmlformats.org/officeDocument/2006/relationships/image"/><Relationship Id="rId15" Target="../media/image108.png" Type="http://schemas.openxmlformats.org/officeDocument/2006/relationships/image"/><Relationship Id="rId16" Target="../media/image109.png" Type="http://schemas.openxmlformats.org/officeDocument/2006/relationships/image"/><Relationship Id="rId17" Target="../media/image110.png" Type="http://schemas.openxmlformats.org/officeDocument/2006/relationships/image"/><Relationship Id="rId18" Target="../media/image111.png" Type="http://schemas.openxmlformats.org/officeDocument/2006/relationships/image"/><Relationship Id="rId19" Target="../media/image112.png" Type="http://schemas.openxmlformats.org/officeDocument/2006/relationships/image"/><Relationship Id="rId2" Target="../media/image95.png" Type="http://schemas.openxmlformats.org/officeDocument/2006/relationships/image"/><Relationship Id="rId20" Target="../media/image113.png" Type="http://schemas.openxmlformats.org/officeDocument/2006/relationships/image"/><Relationship Id="rId21" Target="../media/image114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9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20" Target="../media/image133.png" Type="http://schemas.openxmlformats.org/officeDocument/2006/relationships/image"/><Relationship Id="rId21" Target="../media/image134.png" Type="http://schemas.openxmlformats.org/officeDocument/2006/relationships/image"/><Relationship Id="rId22" Target="../media/image135.png" Type="http://schemas.openxmlformats.org/officeDocument/2006/relationships/image"/><Relationship Id="rId23" Target="../media/image136.png" Type="http://schemas.openxmlformats.org/officeDocument/2006/relationships/image"/><Relationship Id="rId24" Target="../media/image137.png" Type="http://schemas.openxmlformats.org/officeDocument/2006/relationships/image"/><Relationship Id="rId25" Target="../media/image138.png" Type="http://schemas.openxmlformats.org/officeDocument/2006/relationships/image"/><Relationship Id="rId26" Target="../media/image139.png" Type="http://schemas.openxmlformats.org/officeDocument/2006/relationships/image"/><Relationship Id="rId27" Target="../media/image140.png" Type="http://schemas.openxmlformats.org/officeDocument/2006/relationships/image"/><Relationship Id="rId28" Target="../media/image141.png" Type="http://schemas.openxmlformats.org/officeDocument/2006/relationships/image"/><Relationship Id="rId29" Target="../media/image142.png" Type="http://schemas.openxmlformats.org/officeDocument/2006/relationships/image"/><Relationship Id="rId3" Target="../media/image116.png" Type="http://schemas.openxmlformats.org/officeDocument/2006/relationships/image"/><Relationship Id="rId30" Target="../media/image143.png" Type="http://schemas.openxmlformats.org/officeDocument/2006/relationships/image"/><Relationship Id="rId31" Target="../media/image144.png" Type="http://schemas.openxmlformats.org/officeDocument/2006/relationships/image"/><Relationship Id="rId32" Target="../media/image145.png" Type="http://schemas.openxmlformats.org/officeDocument/2006/relationships/image"/><Relationship Id="rId33" Target="../media/image146.png" Type="http://schemas.openxmlformats.org/officeDocument/2006/relationships/image"/><Relationship Id="rId34" Target="../media/image147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6925" y="0"/>
            <a:ext cx="4791075" cy="1714500"/>
          </a:xfrm>
          <a:custGeom>
            <a:avLst/>
            <a:gdLst/>
            <a:ahLst/>
            <a:cxnLst/>
            <a:rect r="r" b="b" t="t" l="l"/>
            <a:pathLst>
              <a:path h="1714500" w="4791075">
                <a:moveTo>
                  <a:pt x="0" y="0"/>
                </a:moveTo>
                <a:lnTo>
                  <a:pt x="4791075" y="0"/>
                </a:lnTo>
                <a:lnTo>
                  <a:pt x="4791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82775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7413" y="4349725"/>
            <a:ext cx="4612869" cy="133846"/>
          </a:xfrm>
          <a:custGeom>
            <a:avLst/>
            <a:gdLst/>
            <a:ahLst/>
            <a:cxnLst/>
            <a:rect r="r" b="b" t="t" l="l"/>
            <a:pathLst>
              <a:path h="133846" w="4612869">
                <a:moveTo>
                  <a:pt x="0" y="0"/>
                </a:moveTo>
                <a:lnTo>
                  <a:pt x="4612869" y="0"/>
                </a:lnTo>
                <a:lnTo>
                  <a:pt x="4612869" y="133846"/>
                </a:lnTo>
                <a:lnTo>
                  <a:pt x="0" y="133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599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7700" y="4553731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7700" y="5250305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7700" y="6643453"/>
            <a:ext cx="14163675" cy="356027"/>
          </a:xfrm>
          <a:custGeom>
            <a:avLst/>
            <a:gdLst/>
            <a:ahLst/>
            <a:cxnLst/>
            <a:rect r="r" b="b" t="t" l="l"/>
            <a:pathLst>
              <a:path h="356027" w="14163675">
                <a:moveTo>
                  <a:pt x="0" y="0"/>
                </a:moveTo>
                <a:lnTo>
                  <a:pt x="14163675" y="0"/>
                </a:lnTo>
                <a:lnTo>
                  <a:pt x="14163675" y="356027"/>
                </a:lnTo>
                <a:lnTo>
                  <a:pt x="0" y="3560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7700" y="6643453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1962" y="7075459"/>
            <a:ext cx="1129379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2211" y="7089094"/>
            <a:ext cx="3388137" cy="33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2818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Automation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7340027"/>
            <a:ext cx="13807648" cy="356027"/>
          </a:xfrm>
          <a:custGeom>
            <a:avLst/>
            <a:gdLst/>
            <a:ahLst/>
            <a:cxnLst/>
            <a:rect r="r" b="b" t="t" l="l"/>
            <a:pathLst>
              <a:path h="356027" w="13807648">
                <a:moveTo>
                  <a:pt x="0" y="0"/>
                </a:moveTo>
                <a:lnTo>
                  <a:pt x="13807648" y="0"/>
                </a:lnTo>
                <a:lnTo>
                  <a:pt x="13807648" y="356027"/>
                </a:lnTo>
                <a:lnTo>
                  <a:pt x="0" y="3560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7700" y="7680575"/>
            <a:ext cx="5324923" cy="712054"/>
          </a:xfrm>
          <a:custGeom>
            <a:avLst/>
            <a:gdLst/>
            <a:ahLst/>
            <a:cxnLst/>
            <a:rect r="r" b="b" t="t" l="l"/>
            <a:pathLst>
              <a:path h="712054" w="5324923">
                <a:moveTo>
                  <a:pt x="0" y="0"/>
                </a:moveTo>
                <a:lnTo>
                  <a:pt x="5324923" y="0"/>
                </a:lnTo>
                <a:lnTo>
                  <a:pt x="5324923" y="712053"/>
                </a:lnTo>
                <a:lnTo>
                  <a:pt x="0" y="7120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7700" y="8377149"/>
            <a:ext cx="13467101" cy="356027"/>
          </a:xfrm>
          <a:custGeom>
            <a:avLst/>
            <a:gdLst/>
            <a:ahLst/>
            <a:cxnLst/>
            <a:rect r="r" b="b" t="t" l="l"/>
            <a:pathLst>
              <a:path h="356027" w="13467101">
                <a:moveTo>
                  <a:pt x="0" y="0"/>
                </a:moveTo>
                <a:lnTo>
                  <a:pt x="13467101" y="0"/>
                </a:lnTo>
                <a:lnTo>
                  <a:pt x="13467101" y="356027"/>
                </a:lnTo>
                <a:lnTo>
                  <a:pt x="0" y="3560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7700" y="8377149"/>
            <a:ext cx="5324923" cy="1052601"/>
          </a:xfrm>
          <a:custGeom>
            <a:avLst/>
            <a:gdLst/>
            <a:ahLst/>
            <a:cxnLst/>
            <a:rect r="r" b="b" t="t" l="l"/>
            <a:pathLst>
              <a:path h="1052601" w="5324923">
                <a:moveTo>
                  <a:pt x="0" y="0"/>
                </a:moveTo>
                <a:lnTo>
                  <a:pt x="5324923" y="0"/>
                </a:lnTo>
                <a:lnTo>
                  <a:pt x="5324923" y="1052601"/>
                </a:lnTo>
                <a:lnTo>
                  <a:pt x="0" y="1052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83672" y="2565620"/>
            <a:ext cx="5504328" cy="5891514"/>
          </a:xfrm>
          <a:custGeom>
            <a:avLst/>
            <a:gdLst/>
            <a:ahLst/>
            <a:cxnLst/>
            <a:rect r="r" b="b" t="t" l="l"/>
            <a:pathLst>
              <a:path h="5891514" w="5504328">
                <a:moveTo>
                  <a:pt x="0" y="0"/>
                </a:moveTo>
                <a:lnTo>
                  <a:pt x="5504328" y="0"/>
                </a:lnTo>
                <a:lnTo>
                  <a:pt x="5504328" y="5891514"/>
                </a:lnTo>
                <a:lnTo>
                  <a:pt x="0" y="5891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3081" y="689481"/>
            <a:ext cx="142646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84832" y="414276"/>
            <a:ext cx="6876288" cy="39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322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84832" y="1002832"/>
            <a:ext cx="2834640" cy="2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7"/>
              </a:lnSpc>
            </a:pPr>
            <a:r>
              <a:rPr lang="en-US" sz="240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75152" y="387477"/>
            <a:ext cx="179222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124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63329" y="5511377"/>
            <a:ext cx="829201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239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Automated Integration and Intelligent Harmonization of Multi-source Geospatial Data for Urban Land Record Management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1962" y="8830826"/>
            <a:ext cx="1961553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NAME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4944" y="2101082"/>
            <a:ext cx="13887831" cy="203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864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</a:t>
            </a:r>
          </a:p>
          <a:p>
            <a:pPr algn="l">
              <a:lnSpc>
                <a:spcPts val="7782"/>
              </a:lnSpc>
            </a:pPr>
            <a:r>
              <a:rPr lang="en-US" sz="864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INDIA </a:t>
            </a:r>
            <a:r>
              <a:rPr lang="en-US" sz="8646" b="true">
                <a:solidFill>
                  <a:srgbClr val="F264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HACKATHON</a:t>
            </a:r>
            <a:r>
              <a:rPr lang="en-US" sz="864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1962" y="4885430"/>
            <a:ext cx="3982547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ID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82211" y="4889130"/>
            <a:ext cx="1188820" cy="35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933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26013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1962" y="5587577"/>
            <a:ext cx="4547236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TITLE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1962" y="7961502"/>
            <a:ext cx="2258758" cy="29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53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 CATEGORY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82211" y="7966299"/>
            <a:ext cx="1664348" cy="34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2876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Software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20218" y="8619747"/>
            <a:ext cx="1409319" cy="45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9"/>
              </a:lnSpc>
              <a:spcBef>
                <a:spcPct val="0"/>
              </a:spcBef>
            </a:pPr>
            <a:r>
              <a:rPr lang="en-US" b="true" sz="277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Advante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8625" y="676275"/>
            <a:ext cx="112128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  <a:p>
            <a:pPr algn="ctr">
              <a:lnSpc>
                <a:spcPts val="216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84832" y="282892"/>
            <a:ext cx="68397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4832" y="899541"/>
            <a:ext cx="28163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01850" y="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93440" y="336042"/>
            <a:ext cx="1773936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b="true" sz="2088">
                <a:solidFill>
                  <a:srgbClr val="001532">
                    <a:alpha val="6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25" y="3638550"/>
            <a:ext cx="3933825" cy="647700"/>
          </a:xfrm>
          <a:custGeom>
            <a:avLst/>
            <a:gdLst/>
            <a:ahLst/>
            <a:cxnLst/>
            <a:rect r="r" b="b" t="t" l="l"/>
            <a:pathLst>
              <a:path h="647700" w="3933825">
                <a:moveTo>
                  <a:pt x="0" y="0"/>
                </a:moveTo>
                <a:lnTo>
                  <a:pt x="3933825" y="0"/>
                </a:lnTo>
                <a:lnTo>
                  <a:pt x="3933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1520" y="3842194"/>
            <a:ext cx="23774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69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 SOLUTION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5572125"/>
            <a:ext cx="4362450" cy="647700"/>
          </a:xfrm>
          <a:custGeom>
            <a:avLst/>
            <a:gdLst/>
            <a:ahLst/>
            <a:cxnLst/>
            <a:rect r="r" b="b" t="t" l="l"/>
            <a:pathLst>
              <a:path h="647700" w="436245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1520" y="5775389"/>
            <a:ext cx="371246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7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IT ADDRESSES THE PROBLEM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8625" y="7496175"/>
            <a:ext cx="4143375" cy="647700"/>
          </a:xfrm>
          <a:custGeom>
            <a:avLst/>
            <a:gdLst/>
            <a:ahLst/>
            <a:cxnLst/>
            <a:rect r="r" b="b" t="t" l="l"/>
            <a:pathLst>
              <a:path h="647700" w="4143375">
                <a:moveTo>
                  <a:pt x="0" y="0"/>
                </a:moveTo>
                <a:lnTo>
                  <a:pt x="4143375" y="0"/>
                </a:lnTo>
                <a:lnTo>
                  <a:pt x="4143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31520" y="7673721"/>
            <a:ext cx="331012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INNOVATION AND UNIQUENESS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705850" y="3429000"/>
            <a:ext cx="3705225" cy="647700"/>
          </a:xfrm>
          <a:custGeom>
            <a:avLst/>
            <a:gdLst/>
            <a:ahLst/>
            <a:cxnLst/>
            <a:rect r="r" b="b" t="t" l="l"/>
            <a:pathLst>
              <a:path h="647700" w="3705225">
                <a:moveTo>
                  <a:pt x="0" y="0"/>
                </a:moveTo>
                <a:lnTo>
                  <a:pt x="3705225" y="0"/>
                </a:lnTo>
                <a:lnTo>
                  <a:pt x="3705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58400" y="3649028"/>
            <a:ext cx="9326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1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TODAY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67700" y="4067175"/>
            <a:ext cx="4362450" cy="5153025"/>
          </a:xfrm>
          <a:custGeom>
            <a:avLst/>
            <a:gdLst/>
            <a:ahLst/>
            <a:cxnLst/>
            <a:rect r="r" b="b" t="t" l="l"/>
            <a:pathLst>
              <a:path h="5153025" w="4362450">
                <a:moveTo>
                  <a:pt x="0" y="0"/>
                </a:moveTo>
                <a:lnTo>
                  <a:pt x="4362450" y="0"/>
                </a:lnTo>
                <a:lnTo>
                  <a:pt x="436245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05850" y="4286250"/>
            <a:ext cx="3705225" cy="4714875"/>
          </a:xfrm>
          <a:custGeom>
            <a:avLst/>
            <a:gdLst/>
            <a:ahLst/>
            <a:cxnLst/>
            <a:rect r="r" b="b" t="t" l="l"/>
            <a:pathLst>
              <a:path h="4714875" w="3705225">
                <a:moveTo>
                  <a:pt x="0" y="0"/>
                </a:moveTo>
                <a:lnTo>
                  <a:pt x="3705225" y="0"/>
                </a:lnTo>
                <a:lnTo>
                  <a:pt x="370522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454896" y="6259481"/>
            <a:ext cx="2011680" cy="69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b="true" sz="1982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SURVEY NO. 255 (UNDIVIDED)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716000" y="3429000"/>
            <a:ext cx="3705225" cy="647700"/>
          </a:xfrm>
          <a:custGeom>
            <a:avLst/>
            <a:gdLst/>
            <a:ahLst/>
            <a:cxnLst/>
            <a:rect r="r" b="b" t="t" l="l"/>
            <a:pathLst>
              <a:path h="647700" w="3705225">
                <a:moveTo>
                  <a:pt x="0" y="0"/>
                </a:moveTo>
                <a:lnTo>
                  <a:pt x="3705225" y="0"/>
                </a:lnTo>
                <a:lnTo>
                  <a:pt x="3705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126456" y="3658553"/>
            <a:ext cx="313284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98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 BHUMI-NAKASHA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277850" y="4067175"/>
            <a:ext cx="4581525" cy="5153025"/>
          </a:xfrm>
          <a:custGeom>
            <a:avLst/>
            <a:gdLst/>
            <a:ahLst/>
            <a:cxnLst/>
            <a:rect r="r" b="b" t="t" l="l"/>
            <a:pathLst>
              <a:path h="5153025" w="4581525">
                <a:moveTo>
                  <a:pt x="0" y="0"/>
                </a:moveTo>
                <a:lnTo>
                  <a:pt x="4581525" y="0"/>
                </a:lnTo>
                <a:lnTo>
                  <a:pt x="458152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925550" y="4286250"/>
            <a:ext cx="2409825" cy="2790825"/>
          </a:xfrm>
          <a:custGeom>
            <a:avLst/>
            <a:gdLst/>
            <a:ahLst/>
            <a:cxnLst/>
            <a:rect r="r" b="b" t="t" l="l"/>
            <a:pathLst>
              <a:path h="2790825" w="2409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666976" y="5660517"/>
            <a:ext cx="69494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b="true" sz="2017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255/1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68625" y="4924425"/>
            <a:ext cx="1971675" cy="3438525"/>
          </a:xfrm>
          <a:custGeom>
            <a:avLst/>
            <a:gdLst/>
            <a:ahLst/>
            <a:cxnLst/>
            <a:rect r="r" b="b" t="t" l="l"/>
            <a:pathLst>
              <a:path h="3438525" w="1971675">
                <a:moveTo>
                  <a:pt x="0" y="0"/>
                </a:moveTo>
                <a:lnTo>
                  <a:pt x="1971675" y="0"/>
                </a:lnTo>
                <a:lnTo>
                  <a:pt x="19716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184880" y="6293548"/>
            <a:ext cx="7680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2230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255/2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925550" y="6638925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087600" y="7589710"/>
            <a:ext cx="76809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2230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255/3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620625" y="600075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21792" y="9815322"/>
            <a:ext cx="83393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 PARCELS. ACCURATE RECORDS. EMPOWERING INDIA.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40080" y="1905952"/>
            <a:ext cx="50109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4"/>
              </a:lnSpc>
            </a:pPr>
            <a:r>
              <a:rPr lang="en-US" sz="4712" b="true">
                <a:solidFill>
                  <a:srgbClr val="F263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Bhumi-Nakasha-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07024" y="1910715"/>
            <a:ext cx="630936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9"/>
              </a:lnSpc>
            </a:pPr>
            <a:r>
              <a:rPr lang="en-US" sz="4641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From Survey Number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0080" y="2641092"/>
            <a:ext cx="740664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9"/>
              </a:lnSpc>
            </a:pPr>
            <a:r>
              <a:rPr lang="en-US" sz="4641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Intelligent Land Parcel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1520" y="4355402"/>
            <a:ext cx="506577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AI/GeoAI fuses cadastrad maps + textual land records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1520" y="4710684"/>
            <a:ext cx="66751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CV extracts survey boundaries from scanned sheets + drone imagery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1520" y="5070729"/>
            <a:ext cx="662025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Area-constrained ML splitss Survey No. 255 into 255/1, 255/2, 255/3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1520" y="6274308"/>
            <a:ext cx="652881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Automates spatial matching, topology correction, conflict resolution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1520" y="6634353"/>
            <a:ext cx="68397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Integrates drone, ORI, DSM/DTM, GNSS, revenue, municipal, utility data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1520" y="6994398"/>
            <a:ext cx="65836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Removes manual GIS-technician bottlenecks in cadastral finalization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1520" y="8177403"/>
            <a:ext cx="632764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India-specific fractional survey-number inference using ML + GNN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31520" y="8537448"/>
            <a:ext cx="65836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Human-in-loop confidence scoring, no auto legal boundary decisions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1520" y="8897493"/>
            <a:ext cx="539496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Natural-language GIS assistant for English/Hindi queries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1850" y="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11728" y="323398"/>
            <a:ext cx="1773936" cy="102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b="true" sz="2088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0080" y="2015720"/>
            <a:ext cx="4133088" cy="14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</a:pPr>
            <a:r>
              <a:rPr lang="en-US" sz="5243" b="true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APPROACH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363855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0080" y="4096266"/>
            <a:ext cx="3712464" cy="155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and GeoAI pipeline that harmonizes multi-source data into intelligent, trusted land parcels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5781675"/>
            <a:ext cx="4800600" cy="3648075"/>
          </a:xfrm>
          <a:custGeom>
            <a:avLst/>
            <a:gdLst/>
            <a:ahLst/>
            <a:cxnLst/>
            <a:rect r="r" b="b" t="t" l="l"/>
            <a:pathLst>
              <a:path h="3648075" w="4800600">
                <a:moveTo>
                  <a:pt x="0" y="0"/>
                </a:moveTo>
                <a:lnTo>
                  <a:pt x="4800600" y="0"/>
                </a:lnTo>
                <a:lnTo>
                  <a:pt x="48006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0976" y="6362352"/>
            <a:ext cx="2633472" cy="109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PyTorch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Segment Anything Model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U-Net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PyTorch Geometric (GNN)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6775" y="7496175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0976" y="7631272"/>
            <a:ext cx="2926080" cy="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Tesseracl/Cloud Vision OCR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IndicBERT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66775" y="8143875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0976" y="8335170"/>
            <a:ext cx="1133856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LLM + RAG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66775" y="8572500"/>
            <a:ext cx="4143375" cy="219075"/>
          </a:xfrm>
          <a:custGeom>
            <a:avLst/>
            <a:gdLst/>
            <a:ahLst/>
            <a:cxnLst/>
            <a:rect r="r" b="b" t="t" l="l"/>
            <a:pathLst>
              <a:path h="219075" w="41433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87552" y="8783416"/>
            <a:ext cx="1938528" cy="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Locker/Kubernetes</a:t>
            </a:r>
          </a:p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AWS/Gol Cloud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40080" y="9805292"/>
            <a:ext cx="8339328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1805" spc="9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 PARCELS. ACCURATE RECORDS. EMPOWERING INDIA.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096000" y="19240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24625" y="1924050"/>
            <a:ext cx="5667375" cy="647700"/>
          </a:xfrm>
          <a:custGeom>
            <a:avLst/>
            <a:gdLst/>
            <a:ahLst/>
            <a:cxnLst/>
            <a:rect r="r" b="b" t="t" l="l"/>
            <a:pathLst>
              <a:path h="647700" w="5667375">
                <a:moveTo>
                  <a:pt x="0" y="0"/>
                </a:moveTo>
                <a:lnTo>
                  <a:pt x="5667375" y="0"/>
                </a:lnTo>
                <a:lnTo>
                  <a:pt x="5667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858000" y="2026208"/>
            <a:ext cx="5010912" cy="28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Cadastral PDF/Image + Drone ORI + GNSS points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924925" y="235267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096000" y="25717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24625" y="2571750"/>
            <a:ext cx="5667375" cy="857250"/>
          </a:xfrm>
          <a:custGeom>
            <a:avLst/>
            <a:gdLst/>
            <a:ahLst/>
            <a:cxnLst/>
            <a:rect r="r" b="b" t="t" l="l"/>
            <a:pathLst>
              <a:path h="857250" w="5667375">
                <a:moveTo>
                  <a:pt x="0" y="0"/>
                </a:moveTo>
                <a:lnTo>
                  <a:pt x="5667375" y="0"/>
                </a:lnTo>
                <a:lnTo>
                  <a:pt x="5667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24925" y="32099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096000" y="32099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524625" y="3209925"/>
            <a:ext cx="5667375" cy="866775"/>
          </a:xfrm>
          <a:custGeom>
            <a:avLst/>
            <a:gdLst/>
            <a:ahLst/>
            <a:cxnLst/>
            <a:rect r="r" b="b" t="t" l="l"/>
            <a:pathLst>
              <a:path h="866775" w="5667375">
                <a:moveTo>
                  <a:pt x="0" y="0"/>
                </a:moveTo>
                <a:lnTo>
                  <a:pt x="5667375" y="0"/>
                </a:lnTo>
                <a:lnTo>
                  <a:pt x="5667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858000" y="3572289"/>
            <a:ext cx="3767328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CV Boundary Segmentation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924925" y="38576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096000" y="40671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524625" y="4067175"/>
            <a:ext cx="5667375" cy="866775"/>
          </a:xfrm>
          <a:custGeom>
            <a:avLst/>
            <a:gdLst/>
            <a:ahLst/>
            <a:cxnLst/>
            <a:rect r="r" b="b" t="t" l="l"/>
            <a:pathLst>
              <a:path h="866775" w="5667375">
                <a:moveTo>
                  <a:pt x="0" y="0"/>
                </a:moveTo>
                <a:lnTo>
                  <a:pt x="5667375" y="0"/>
                </a:lnTo>
                <a:lnTo>
                  <a:pt x="5667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040880" y="4430059"/>
            <a:ext cx="4480560" cy="21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Area-constrained Sub-division Partitioning (GNN-refined)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924925" y="471487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096000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524625" y="4924425"/>
            <a:ext cx="5667375" cy="647700"/>
          </a:xfrm>
          <a:custGeom>
            <a:avLst/>
            <a:gdLst/>
            <a:ahLst/>
            <a:cxnLst/>
            <a:rect r="r" b="b" t="t" l="l"/>
            <a:pathLst>
              <a:path h="647700" w="5667375">
                <a:moveTo>
                  <a:pt x="0" y="0"/>
                </a:moveTo>
                <a:lnTo>
                  <a:pt x="5667375" y="0"/>
                </a:lnTo>
                <a:lnTo>
                  <a:pt x="5667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967728" y="5177061"/>
            <a:ext cx="4645152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Georeferencing + Coordinate Transformation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924925" y="55721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4352544" y="283563"/>
            <a:ext cx="6876288" cy="53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52544" y="888783"/>
            <a:ext cx="2834640" cy="39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84832" y="5907438"/>
            <a:ext cx="1645920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59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/ ML ENGINE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1485" y="720023"/>
            <a:ext cx="1489655" cy="48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b="true" sz="1805">
                <a:solidFill>
                  <a:srgbClr val="001C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  <a:p>
            <a:pPr algn="ctr">
              <a:lnSpc>
                <a:spcPts val="1985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6364224" y="2018033"/>
            <a:ext cx="109728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58000" y="2800764"/>
            <a:ext cx="2962656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Docx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64224" y="2799845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364224" y="3499361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364224" y="4260599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364224" y="5114420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461504" y="5861908"/>
            <a:ext cx="3639312" cy="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Spatial Matching with 7/12, Khata, Municipal records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364224" y="5855084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706624" y="5866413"/>
            <a:ext cx="4224528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Conflict Resolution + Confidence Scoring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64224" y="6739766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94576" y="6473346"/>
            <a:ext cx="1298448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auto-publish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94576" y="6823104"/>
            <a:ext cx="1444752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FF63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human review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94576" y="7193436"/>
            <a:ext cx="1719072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send toveyor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00416" y="8618824"/>
            <a:ext cx="2670048" cy="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PostGIS Golden Record →</a:t>
            </a:r>
          </a:p>
          <a:p>
            <a:pPr algn="ctr">
              <a:lnSpc>
                <a:spcPts val="2229"/>
              </a:lnSpc>
            </a:pPr>
            <a:r>
              <a:rPr lang="en-US" sz="1592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Web-GIS + NL Assistant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64224" y="8560565"/>
            <a:ext cx="164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862304" y="3386204"/>
            <a:ext cx="354787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GEOSPATIAL DATA &amp; SERVICES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081760" y="4024917"/>
            <a:ext cx="2322576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PostgreSQL + PostGIS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081760" y="4590702"/>
            <a:ext cx="1170432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GeoPandas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081760" y="5115339"/>
            <a:ext cx="603504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GDAL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081760" y="5670837"/>
            <a:ext cx="2761488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GeoServer OGC WMS/WFS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473184" y="5762625"/>
            <a:ext cx="2450592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LAYER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92640" y="6380763"/>
            <a:ext cx="804672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FastAPI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92640" y="6936261"/>
            <a:ext cx="3017520" cy="26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001C4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React + Mapbox GL/MapLibre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1938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4" y="0"/>
                </a:lnTo>
                <a:lnTo>
                  <a:pt x="153352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93684" y="215927"/>
            <a:ext cx="68762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506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72728" y="905066"/>
            <a:ext cx="281635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IDEA SUBMISSION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01850" y="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130016" y="328041"/>
            <a:ext cx="175564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b="true" sz="2195">
                <a:solidFill>
                  <a:srgbClr val="001F3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SMART INDIA HACKATHON 2026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1792" y="1936623"/>
            <a:ext cx="764438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5"/>
              </a:lnSpc>
            </a:pPr>
            <a:r>
              <a:rPr lang="en-US" sz="5421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Feasibility and Viability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3000375"/>
            <a:ext cx="8067675" cy="647700"/>
          </a:xfrm>
          <a:custGeom>
            <a:avLst/>
            <a:gdLst/>
            <a:ahLst/>
            <a:cxnLst/>
            <a:rect r="r" b="b" t="t" l="l"/>
            <a:pathLst>
              <a:path h="647700" w="8067675">
                <a:moveTo>
                  <a:pt x="0" y="0"/>
                </a:moveTo>
                <a:lnTo>
                  <a:pt x="8067675" y="0"/>
                </a:lnTo>
                <a:lnTo>
                  <a:pt x="806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66160" y="3137344"/>
            <a:ext cx="18836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b="true" sz="254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CHALLENGE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363855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7700" y="38576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33550" y="3638550"/>
            <a:ext cx="6762750" cy="1295400"/>
          </a:xfrm>
          <a:custGeom>
            <a:avLst/>
            <a:gdLst/>
            <a:ahLst/>
            <a:cxnLst/>
            <a:rect r="r" b="b" t="t" l="l"/>
            <a:pathLst>
              <a:path h="1295400" w="6762750">
                <a:moveTo>
                  <a:pt x="0" y="0"/>
                </a:moveTo>
                <a:lnTo>
                  <a:pt x="6762750" y="0"/>
                </a:lnTo>
                <a:lnTo>
                  <a:pt x="6762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21408" y="3933444"/>
            <a:ext cx="263347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Legal defensibility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1408" y="4373880"/>
            <a:ext cx="44622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survey outputs need legal certainty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486775" y="4067175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8625" y="492442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6775" y="514350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33550" y="4924425"/>
            <a:ext cx="6762750" cy="1504950"/>
          </a:xfrm>
          <a:custGeom>
            <a:avLst/>
            <a:gdLst/>
            <a:ahLst/>
            <a:cxnLst/>
            <a:rect r="r" b="b" t="t" l="l"/>
            <a:pathLst>
              <a:path h="1504950" w="6762750">
                <a:moveTo>
                  <a:pt x="0" y="0"/>
                </a:moveTo>
                <a:lnTo>
                  <a:pt x="6762750" y="0"/>
                </a:lnTo>
                <a:lnTo>
                  <a:pt x="6762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21408" y="5271516"/>
            <a:ext cx="309067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Scan-quality variance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486775" y="5353050"/>
            <a:ext cx="1095375" cy="438150"/>
          </a:xfrm>
          <a:custGeom>
            <a:avLst/>
            <a:gdLst/>
            <a:ahLst/>
            <a:cxnLst/>
            <a:rect r="r" b="b" t="t" l="l"/>
            <a:pathLst>
              <a:path h="438150" w="1095375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28625" y="621030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47700" y="64293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33550" y="6210300"/>
            <a:ext cx="6762750" cy="1504950"/>
          </a:xfrm>
          <a:custGeom>
            <a:avLst/>
            <a:gdLst/>
            <a:ahLst/>
            <a:cxnLst/>
            <a:rect r="r" b="b" t="t" l="l"/>
            <a:pathLst>
              <a:path h="1504950" w="6762750">
                <a:moveTo>
                  <a:pt x="0" y="0"/>
                </a:moveTo>
                <a:lnTo>
                  <a:pt x="6762750" y="0"/>
                </a:lnTo>
                <a:lnTo>
                  <a:pt x="6762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121408" y="6612826"/>
            <a:ext cx="32186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Datum/CRM mismatch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21408" y="7048500"/>
            <a:ext cx="45902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Everest 1830 vs WGS84 differences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486775" y="685800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28625" y="771525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7700" y="77152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33550" y="7715250"/>
            <a:ext cx="6762750" cy="1285875"/>
          </a:xfrm>
          <a:custGeom>
            <a:avLst/>
            <a:gdLst/>
            <a:ahLst/>
            <a:cxnLst/>
            <a:rect r="r" b="b" t="t" l="l"/>
            <a:pathLst>
              <a:path h="1285875" w="6762750">
                <a:moveTo>
                  <a:pt x="0" y="0"/>
                </a:moveTo>
                <a:lnTo>
                  <a:pt x="6762750" y="0"/>
                </a:lnTo>
                <a:lnTo>
                  <a:pt x="6762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121408" y="7939850"/>
            <a:ext cx="358444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Sensitive ownership 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21408" y="8375523"/>
            <a:ext cx="468172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land records require strict protection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486775" y="814387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572625" y="3000375"/>
            <a:ext cx="8067675" cy="647700"/>
          </a:xfrm>
          <a:custGeom>
            <a:avLst/>
            <a:gdLst/>
            <a:ahLst/>
            <a:cxnLst/>
            <a:rect r="r" b="b" t="t" l="l"/>
            <a:pathLst>
              <a:path h="647700" w="8067675">
                <a:moveTo>
                  <a:pt x="0" y="0"/>
                </a:moveTo>
                <a:lnTo>
                  <a:pt x="8067675" y="0"/>
                </a:lnTo>
                <a:lnTo>
                  <a:pt x="806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728448" y="3142107"/>
            <a:ext cx="188366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b="true" sz="2478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MITIGATION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572625" y="363855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791700" y="38576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877550" y="3638550"/>
            <a:ext cx="6762750" cy="1295400"/>
          </a:xfrm>
          <a:custGeom>
            <a:avLst/>
            <a:gdLst/>
            <a:ahLst/>
            <a:cxnLst/>
            <a:rect r="r" b="b" t="t" l="l"/>
            <a:pathLst>
              <a:path h="1295400" w="6762750">
                <a:moveTo>
                  <a:pt x="0" y="0"/>
                </a:moveTo>
                <a:lnTo>
                  <a:pt x="6762750" y="0"/>
                </a:lnTo>
                <a:lnTo>
                  <a:pt x="6762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192256" y="3923919"/>
            <a:ext cx="371246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&lt;90% confidence advisory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92256" y="4369118"/>
            <a:ext cx="30358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officer sign-off required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9572625" y="4924425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791700" y="51435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877550" y="4924425"/>
            <a:ext cx="6762750" cy="1504950"/>
          </a:xfrm>
          <a:custGeom>
            <a:avLst/>
            <a:gdLst/>
            <a:ahLst/>
            <a:cxnLst/>
            <a:rect r="r" b="b" t="t" l="l"/>
            <a:pathLst>
              <a:path h="1504950" w="6762750">
                <a:moveTo>
                  <a:pt x="0" y="0"/>
                </a:moveTo>
                <a:lnTo>
                  <a:pt x="6762750" y="0"/>
                </a:lnTo>
                <a:lnTo>
                  <a:pt x="6762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1192256" y="5271516"/>
            <a:ext cx="395020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Document-quality classifier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572625" y="621030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376238" y="694754"/>
            <a:ext cx="13049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>
                <a:solidFill>
                  <a:srgbClr val="001F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92256" y="6612826"/>
            <a:ext cx="387705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Datum transformation step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92256" y="7925562"/>
            <a:ext cx="44988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Role-based access + encryption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21408" y="5721477"/>
            <a:ext cx="42976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varied document and scan quality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192256" y="5721477"/>
            <a:ext cx="36393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routes poor scans for review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192256" y="7048500"/>
            <a:ext cx="508406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harmonizes all data to a common frame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192256" y="8380286"/>
            <a:ext cx="33101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true">
                <a:solidFill>
                  <a:srgbClr val="001F3D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per Bhumi Abhidekh policy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1792" y="9784842"/>
            <a:ext cx="837590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b="true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INTELLIGENT PARCELS. ACCURATE RECORDS. EMPOWERING INDIA.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9125" y="579254"/>
            <a:ext cx="1114375" cy="29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582775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75152" y="373684"/>
            <a:ext cx="1792224" cy="91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b="true" sz="2124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9550" y="1714500"/>
            <a:ext cx="5457825" cy="1933575"/>
          </a:xfrm>
          <a:custGeom>
            <a:avLst/>
            <a:gdLst/>
            <a:ahLst/>
            <a:cxnLst/>
            <a:rect r="r" b="b" t="t" l="l"/>
            <a:pathLst>
              <a:path h="1933575" w="5457825">
                <a:moveTo>
                  <a:pt x="0" y="0"/>
                </a:moveTo>
                <a:lnTo>
                  <a:pt x="5457825" y="0"/>
                </a:lnTo>
                <a:lnTo>
                  <a:pt x="5457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6384" y="2472218"/>
            <a:ext cx="3456432" cy="48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REDUCED DISPUTES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33872" y="2141284"/>
            <a:ext cx="2999232" cy="117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98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fewer title/boundary conflicts; clearer parcel boundaries online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9550" y="3638550"/>
            <a:ext cx="5457825" cy="1933575"/>
          </a:xfrm>
          <a:custGeom>
            <a:avLst/>
            <a:gdLst/>
            <a:ahLst/>
            <a:cxnLst/>
            <a:rect r="r" b="b" t="t" l="l"/>
            <a:pathLst>
              <a:path h="1933575" w="5457825">
                <a:moveTo>
                  <a:pt x="0" y="0"/>
                </a:moveTo>
                <a:lnTo>
                  <a:pt x="5457825" y="0"/>
                </a:lnTo>
                <a:lnTo>
                  <a:pt x="5457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6384" y="4248007"/>
            <a:ext cx="4133088" cy="48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86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FASTER CREDIT ACCESS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33872" y="4123523"/>
            <a:ext cx="2852928" cy="79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053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quicker loan/title verification for citizens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09550" y="5353050"/>
            <a:ext cx="5457825" cy="1933575"/>
          </a:xfrm>
          <a:custGeom>
            <a:avLst/>
            <a:gdLst/>
            <a:ahLst/>
            <a:cxnLst/>
            <a:rect r="r" b="b" t="t" l="l"/>
            <a:pathLst>
              <a:path h="1933575" w="5457825">
                <a:moveTo>
                  <a:pt x="0" y="0"/>
                </a:moveTo>
                <a:lnTo>
                  <a:pt x="5457825" y="0"/>
                </a:lnTo>
                <a:lnTo>
                  <a:pt x="5457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6384" y="5909162"/>
            <a:ext cx="3639312" cy="88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83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INTER-DEPARTMENT DATA EXCHANGE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33872" y="5669725"/>
            <a:ext cx="3163824" cy="117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98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shared standardized spatial layer for revenue, municipal, utilities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09550" y="7286625"/>
            <a:ext cx="5457825" cy="1933575"/>
          </a:xfrm>
          <a:custGeom>
            <a:avLst/>
            <a:gdLst/>
            <a:ahLst/>
            <a:cxnLst/>
            <a:rect r="r" b="b" t="t" l="l"/>
            <a:pathLst>
              <a:path h="1933575" w="5457825">
                <a:moveTo>
                  <a:pt x="0" y="0"/>
                </a:moveTo>
                <a:lnTo>
                  <a:pt x="5457825" y="0"/>
                </a:lnTo>
                <a:lnTo>
                  <a:pt x="5457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6384" y="7810170"/>
            <a:ext cx="4041648" cy="84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65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STANDARDIZED DIGITAL LAND GOVERNANCE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33872" y="7624255"/>
            <a:ext cx="2761488" cy="117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1982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village-level land-use dashboards support planners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21792" y="9754463"/>
            <a:ext cx="8357616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 PARCELS. ACCURATE RECORDS. EMPOWERING INDIA.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72625" y="1714500"/>
            <a:ext cx="4143375" cy="3648075"/>
          </a:xfrm>
          <a:custGeom>
            <a:avLst/>
            <a:gdLst/>
            <a:ahLst/>
            <a:cxnLst/>
            <a:rect r="r" b="b" t="t" l="l"/>
            <a:pathLst>
              <a:path h="3648075" w="4143375">
                <a:moveTo>
                  <a:pt x="0" y="0"/>
                </a:moveTo>
                <a:lnTo>
                  <a:pt x="4143375" y="0"/>
                </a:lnTo>
                <a:lnTo>
                  <a:pt x="4143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186416" y="2619510"/>
            <a:ext cx="1024128" cy="38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86416" y="3232228"/>
            <a:ext cx="1755648" cy="65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876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fewer disputes, transparency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496925" y="1714500"/>
            <a:ext cx="4362450" cy="3648075"/>
          </a:xfrm>
          <a:custGeom>
            <a:avLst/>
            <a:gdLst/>
            <a:ahLst/>
            <a:cxnLst/>
            <a:rect r="r" b="b" t="t" l="l"/>
            <a:pathLst>
              <a:path h="3648075" w="4362450">
                <a:moveTo>
                  <a:pt x="0" y="0"/>
                </a:moveTo>
                <a:lnTo>
                  <a:pt x="4362450" y="0"/>
                </a:lnTo>
                <a:lnTo>
                  <a:pt x="4362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380208" y="2632898"/>
            <a:ext cx="1517904" cy="36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b="true" sz="2159">
                <a:solidFill>
                  <a:srgbClr val="E463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ECONOMIC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26512" y="3204121"/>
            <a:ext cx="1572768" cy="105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faster loans, reduced legal costs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572625" y="5353050"/>
            <a:ext cx="4143375" cy="4076700"/>
          </a:xfrm>
          <a:custGeom>
            <a:avLst/>
            <a:gdLst/>
            <a:ahLst/>
            <a:cxnLst/>
            <a:rect r="r" b="b" t="t" l="l"/>
            <a:pathLst>
              <a:path h="4076700" w="4143375">
                <a:moveTo>
                  <a:pt x="0" y="0"/>
                </a:moveTo>
                <a:lnTo>
                  <a:pt x="4143375" y="0"/>
                </a:lnTo>
                <a:lnTo>
                  <a:pt x="41433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186416" y="6883178"/>
            <a:ext cx="1755648" cy="3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b="true">
                <a:solidFill>
                  <a:srgbClr val="0075B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GOVERNANCE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86416" y="7370356"/>
            <a:ext cx="1883664" cy="105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versioned golden record, interoperability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496925" y="5353050"/>
            <a:ext cx="4362450" cy="4076700"/>
          </a:xfrm>
          <a:custGeom>
            <a:avLst/>
            <a:gdLst/>
            <a:ahLst/>
            <a:cxnLst/>
            <a:rect r="r" b="b" t="t" l="l"/>
            <a:pathLst>
              <a:path h="4076700" w="4362450">
                <a:moveTo>
                  <a:pt x="0" y="0"/>
                </a:moveTo>
                <a:lnTo>
                  <a:pt x="4362450" y="0"/>
                </a:lnTo>
                <a:lnTo>
                  <a:pt x="4362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215616" y="6773381"/>
            <a:ext cx="2176272" cy="68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 b="true">
                <a:solidFill>
                  <a:srgbClr val="248F3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ENVIRONMENTAL / PLANNING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24176" y="7725552"/>
            <a:ext cx="2084832" cy="99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876" b="true">
                <a:solidFill>
                  <a:srgbClr val="00153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accurate land-use, infrastructure planning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972925" y="3638550"/>
            <a:ext cx="3267075" cy="3219450"/>
          </a:xfrm>
          <a:custGeom>
            <a:avLst/>
            <a:gdLst/>
            <a:ahLst/>
            <a:cxnLst/>
            <a:rect r="r" b="b" t="t" l="l"/>
            <a:pathLst>
              <a:path h="3219450" w="3267075">
                <a:moveTo>
                  <a:pt x="0" y="0"/>
                </a:moveTo>
                <a:lnTo>
                  <a:pt x="3267075" y="0"/>
                </a:lnTo>
                <a:lnTo>
                  <a:pt x="32670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746736" y="4512823"/>
            <a:ext cx="1792224" cy="144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b="true" sz="308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THAT MATTERS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534775" y="3000375"/>
            <a:ext cx="1971675" cy="2143125"/>
          </a:xfrm>
          <a:custGeom>
            <a:avLst/>
            <a:gdLst/>
            <a:ahLst/>
            <a:cxnLst/>
            <a:rect r="r" b="b" t="t" l="l"/>
            <a:pathLst>
              <a:path h="2143125" w="1971675">
                <a:moveTo>
                  <a:pt x="0" y="0"/>
                </a:moveTo>
                <a:lnTo>
                  <a:pt x="1971675" y="0"/>
                </a:lnTo>
                <a:lnTo>
                  <a:pt x="1971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925550" y="3000375"/>
            <a:ext cx="1752600" cy="2143125"/>
          </a:xfrm>
          <a:custGeom>
            <a:avLst/>
            <a:gdLst/>
            <a:ahLst/>
            <a:cxnLst/>
            <a:rect r="r" b="b" t="t" l="l"/>
            <a:pathLst>
              <a:path h="2143125" w="1752600">
                <a:moveTo>
                  <a:pt x="0" y="0"/>
                </a:moveTo>
                <a:lnTo>
                  <a:pt x="1752600" y="0"/>
                </a:lnTo>
                <a:lnTo>
                  <a:pt x="175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534775" y="557212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925550" y="5572125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370832" y="185680"/>
            <a:ext cx="6876288" cy="58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370832" y="850059"/>
            <a:ext cx="2816352" cy="42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73225" cy="1714500"/>
          </a:xfrm>
          <a:custGeom>
            <a:avLst/>
            <a:gdLst/>
            <a:ahLst/>
            <a:cxnLst/>
            <a:rect r="r" b="b" t="t" l="l"/>
            <a:pathLst>
              <a:path h="1714500" w="14373225">
                <a:moveTo>
                  <a:pt x="0" y="0"/>
                </a:moveTo>
                <a:lnTo>
                  <a:pt x="14373225" y="0"/>
                </a:lnTo>
                <a:lnTo>
                  <a:pt x="143732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550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84832" y="328422"/>
            <a:ext cx="68397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29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84832" y="920115"/>
            <a:ext cx="28163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IDEA SUBMISSION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96925" y="0"/>
            <a:ext cx="4791075" cy="1714500"/>
          </a:xfrm>
          <a:custGeom>
            <a:avLst/>
            <a:gdLst/>
            <a:ahLst/>
            <a:cxnLst/>
            <a:rect r="r" b="b" t="t" l="l"/>
            <a:pathLst>
              <a:path h="1714500" w="4791075">
                <a:moveTo>
                  <a:pt x="0" y="0"/>
                </a:moveTo>
                <a:lnTo>
                  <a:pt x="4791075" y="0"/>
                </a:lnTo>
                <a:lnTo>
                  <a:pt x="4791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82775" y="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93440" y="382715"/>
            <a:ext cx="177393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b="true" sz="2159">
                <a:solidFill>
                  <a:srgbClr val="001532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SMART INDIA HACKATHON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1495425"/>
            <a:ext cx="18288000" cy="219075"/>
          </a:xfrm>
          <a:custGeom>
            <a:avLst/>
            <a:gdLst/>
            <a:ahLst/>
            <a:cxnLst/>
            <a:rect r="r" b="b" t="t" l="l"/>
            <a:pathLst>
              <a:path h="219075" w="18288000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8096" y="4296918"/>
            <a:ext cx="537667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6"/>
              </a:lnSpc>
            </a:pPr>
            <a:r>
              <a:rPr lang="en-US" sz="6271" b="true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and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096" y="5272850"/>
            <a:ext cx="486460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1"/>
              </a:lnSpc>
            </a:pPr>
            <a:r>
              <a:rPr lang="en-US" sz="6909" b="true">
                <a:solidFill>
                  <a:srgbClr val="E45B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7700" y="6429375"/>
            <a:ext cx="1533525" cy="428625"/>
          </a:xfrm>
          <a:custGeom>
            <a:avLst/>
            <a:gdLst/>
            <a:ahLst/>
            <a:cxnLst/>
            <a:rect r="r" b="b" t="t" l="l"/>
            <a:pathLst>
              <a:path h="428625" w="1533525">
                <a:moveTo>
                  <a:pt x="0" y="0"/>
                </a:moveTo>
                <a:lnTo>
                  <a:pt x="1533525" y="0"/>
                </a:lnTo>
                <a:lnTo>
                  <a:pt x="153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24625" y="2143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3700" y="2352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00925" y="21431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17536" y="2459355"/>
            <a:ext cx="82478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Ministry of Rural Development / DoLR – SIH Problem Statement 26013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524625" y="30003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743700" y="32099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00925" y="30003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717536" y="3313176"/>
            <a:ext cx="87050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NAKSHA programme (National Geospatial Knowledge-based Land Survey)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524625" y="38576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43700" y="40671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400925" y="38576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717536" y="4162235"/>
            <a:ext cx="55595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SVAMITVA Scheme, Ministry of Panchayati Raj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524625" y="47148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4370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00925" y="47148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717536" y="5035868"/>
            <a:ext cx="936345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Maharashtra Bhumi Abholekh / Mahabhulekh portal (bhulekh.mahabhumi.gov.in)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524625" y="55721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743700" y="55721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400925" y="55721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717536" y="5884926"/>
            <a:ext cx="95463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Pilot: Plot Report, Village Khedi, Taluka Narkhed, District Nagpur (Survey No. 255)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524625" y="64293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743700" y="6429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400925" y="64293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717536" y="6697599"/>
            <a:ext cx="36941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Segment Anything Model paper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524625" y="72866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43700" y="72866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400925" y="728662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717536" y="7561707"/>
            <a:ext cx="279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PostGIS documentation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524625" y="81438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743700" y="81438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7400925" y="8143875"/>
            <a:ext cx="10239375" cy="857250"/>
          </a:xfrm>
          <a:custGeom>
            <a:avLst/>
            <a:gdLst/>
            <a:ahLst/>
            <a:cxnLst/>
            <a:rect r="r" b="b" t="t" l="l"/>
            <a:pathLst>
              <a:path h="857250" w="10239375">
                <a:moveTo>
                  <a:pt x="0" y="0"/>
                </a:moveTo>
                <a:lnTo>
                  <a:pt x="10239375" y="0"/>
                </a:lnTo>
                <a:lnTo>
                  <a:pt x="1023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7717536" y="8415528"/>
            <a:ext cx="41513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PyTorch Geometric documentation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0" y="9429750"/>
            <a:ext cx="14811375" cy="857250"/>
          </a:xfrm>
          <a:custGeom>
            <a:avLst/>
            <a:gdLst/>
            <a:ahLst/>
            <a:cxnLst/>
            <a:rect r="r" b="b" t="t" l="l"/>
            <a:pathLst>
              <a:path h="857250" w="14811375">
                <a:moveTo>
                  <a:pt x="0" y="0"/>
                </a:moveTo>
                <a:lnTo>
                  <a:pt x="14811375" y="0"/>
                </a:lnTo>
                <a:lnTo>
                  <a:pt x="1481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621792" y="9815322"/>
            <a:ext cx="83393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 PARCELS. ACCURATE RECORDS. EMPOWERING INDIA.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4363700" y="9429750"/>
            <a:ext cx="3924300" cy="857250"/>
          </a:xfrm>
          <a:custGeom>
            <a:avLst/>
            <a:gdLst/>
            <a:ahLst/>
            <a:cxnLst/>
            <a:rect r="r" b="b" t="t" l="l"/>
            <a:pathLst>
              <a:path h="857250" w="3924300">
                <a:moveTo>
                  <a:pt x="0" y="0"/>
                </a:moveTo>
                <a:lnTo>
                  <a:pt x="3924300" y="0"/>
                </a:lnTo>
                <a:lnTo>
                  <a:pt x="392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415671" y="733425"/>
            <a:ext cx="112128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>
                <a:solidFill>
                  <a:srgbClr val="0015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DAHTr6pWxqw</dc:identifier>
  <dcterms:modified xsi:type="dcterms:W3CDTF">2011-08-01T06:04:30Z</dcterms:modified>
  <cp:revision>1</cp:revision>
  <dc:title>Advante</dc:title>
</cp:coreProperties>
</file>